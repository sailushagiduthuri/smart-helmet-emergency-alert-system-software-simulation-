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 am presenting the Smart Helmet Emergency Alert System (Software Version). This project simulates an entire IoT smart helmet ecosystem in pure software without requiring physical microcontrollers or sensors, proving the end-to-end accident triage and dispatch workflows before investing in hardware prototyping.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trauma surgery, the 'Golden Hour' is the first 60 minutes post-impact. If paramedics arrive within this window, survival rates increase dramatically. By developing a software version, we validate all triage algorithms, location capture, and emergency contact messaging before deploying to embedded hardware.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highlight why existing physical IoT projects often fail in classroom or academic demonstrations: hardware breaks, GPS cannot get a lock indoors, and SIM cards run out of balance. Our solution guarantees reliable demonstration while solving the real-world communication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depicts the three-stage architectural pipeline: First, telemetry polling; second, threshold comparison and alarm generation; third, dispatcher triage and family notification. Notice how the three stages mirror a real physical telemetry setup.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mathematical formula calculates the Euclidean norm of the three orthogonal acceleration axes. In medical biomechanics, impacts exceeding 4G to the human skull carry significant risk of concussion or traumatic brain injury. Our algorithm uses this exact medical threshold to trigger critical alarm status.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Leaflet provides an open-source, lightweight mapping engine. We embed OpenStreetMap tiles with custom SVG status pins. When an ambulance driver or officer reviews an incident, they can click 'Open in Google Maps' to instantly launch GPS navigation directly to the victim's exact coordinates.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is organized into six well-defined modules following high-cohesion software design principles. Each page handles its domain while sharing a unified data-access layer in database.js.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Communication is handled responsibly. We explain to evaluators that modern browsers prohibit background SMS sending without user permission for anti-spam reasons. Therefore, our system provides click-to-call and pre-filled SMS while documenting how an enterprise deployment connects a Twilio webhook for server-side SMS broadcast.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analytics engine utilizes Chart.js. We demonstrate to the evaluator that when a new simulated accident is triggered, the analytics charts update dynamically without requiring page reloads or dummy hardcoded numbers.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uses a unified Data Access Layer (DAL). This allows the application to run immediately in LocalStorage mode for grading or demonstrations, while having complete production-grade Firebase Firestore rules and adapter hooks ready.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executed rigorous verification including automated browser subagent passes. Every button performs its intended action, there are zero console errors, input validation handles illegal formats, and mobile responsiveness is verified.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how our software version smoothly transitions to physical hardware in the future. Because our JSON telemetry data model exactly matches the output of an ESP32 microcontroller with an MPU6050 sensor, a developer can simply connect via Web Bluetooth API or MQTT without rewriting any dashboard frontend code.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comparative analysis, we show that software simulation is not just a substitute, but a superior preliminary phase for algorithmic tuning. You cannot safely crash a motorcycle in a laboratory to test an accelerometer; our software simulator allows thousands of impact scenarios to be evaluated safely.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Smart Helmet Emergency Alert System proves that emergency response telemetry and spatial triage can be thoroughly engineered and validated in software. Thank you for your time and attention. I am now open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097280"/>
            <a:ext cx="9448495" cy="4663440"/>
          </a:xfrm>
          <a:prstGeom prst="roundRect">
            <a:avLst/>
          </a:prstGeom>
          <a:solidFill>
            <a:srgbClr val="111A2E"/>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1463040"/>
            <a:ext cx="8534095" cy="3931920"/>
          </a:xfrm>
          <a:prstGeom prst="rect">
            <a:avLst/>
          </a:prstGeom>
          <a:noFill/>
        </p:spPr>
        <p:txBody>
          <a:bodyPr wrap="square">
            <a:spAutoFit/>
          </a:bodyPr>
          <a:lstStyle/>
          <a:p>
            <a:pPr algn="ctr">
              <a:defRPr sz="3200" b="1">
                <a:solidFill>
                  <a:srgbClr val="F8FAFC"/>
                </a:solidFill>
                <a:latin typeface="Arial"/>
              </a:defRPr>
            </a:pPr>
            <a:r>
              <a:t>SMART HELMET EMERGENCY ALERT SYSTEM</a:t>
            </a:r>
          </a:p>
          <a:p>
            <a:pPr algn="ctr">
              <a:spcAft>
                <a:spcPts val="2400"/>
              </a:spcAft>
              <a:defRPr sz="1800" b="1">
                <a:solidFill>
                  <a:srgbClr val="38BDF8"/>
                </a:solidFill>
              </a:defRPr>
            </a:pPr>
            <a:r>
              <a:t>Software Simulation Edition — Zero Hardware Required</a:t>
            </a:r>
          </a:p>
          <a:p>
            <a:pPr algn="ctr">
              <a:spcAft>
                <a:spcPts val="3000"/>
              </a:spcAft>
              <a:defRPr sz="1300">
                <a:solidFill>
                  <a:srgbClr val="94A3B8"/>
                </a:solidFill>
              </a:defRPr>
            </a:pPr>
            <a:r>
              <a:t>An algorithmic IoT simulation demonstrating automatic motorcycle accident detection,</a:t>
            </a:r>
            <a:br/>
            <a:r>
              <a:t>real-time G-force telemetry, Leaflet GPS triage mapping, and emergency contact dispatch.</a:t>
            </a:r>
          </a:p>
          <a:p>
            <a:pPr algn="ctr">
              <a:defRPr sz="1100" b="1">
                <a:solidFill>
                  <a:srgbClr val="F59E0B"/>
                </a:solidFill>
              </a:defRPr>
            </a:pPr>
            <a:r>
              <a:t>Tech Stack: HTML5 • CSS3 • JavaScript (ES6+) • Leaflet / OpenStreetMap • Chart.js • LocalStorage / Firebase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a:spAutoFit/>
          </a:bodyPr>
          <a:lstStyle/>
          <a:p>
            <a:pPr>
              <a:defRPr sz="1100" b="1">
                <a:solidFill>
                  <a:srgbClr val="38BDF8"/>
                </a:solidFill>
                <a:latin typeface="Arial"/>
              </a:defRPr>
            </a:pPr>
            <a:r>
              <a:t>SMART HELMET SAFETY SYSTEM — SOFTWARE VERSION</a:t>
            </a:r>
          </a:p>
        </p:txBody>
      </p:sp>
      <p:sp>
        <p:nvSpPr>
          <p:cNvPr id="4" name="TextBox 3"/>
          <p:cNvSpPr txBox="1"/>
          <p:nvPr/>
        </p:nvSpPr>
        <p:spPr>
          <a:xfrm>
            <a:off x="731520" y="777240"/>
            <a:ext cx="10515600" cy="731520"/>
          </a:xfrm>
          <a:prstGeom prst="rect">
            <a:avLst/>
          </a:prstGeom>
          <a:noFill/>
        </p:spPr>
        <p:txBody>
          <a:bodyPr wrap="square">
            <a:spAutoFit/>
          </a:bodyPr>
          <a:lstStyle/>
          <a:p>
            <a:pPr>
              <a:defRPr sz="2400" b="1">
                <a:solidFill>
                  <a:srgbClr val="F8FAFC"/>
                </a:solidFill>
                <a:latin typeface="Arial"/>
              </a:defRPr>
            </a:pPr>
            <a:r>
              <a:t>Project Overview &amp; Executive Summary</a:t>
            </a:r>
          </a:p>
        </p:txBody>
      </p:sp>
      <p:sp>
        <p:nvSpPr>
          <p:cNvPr id="5" name="Rectangle 4"/>
          <p:cNvSpPr/>
          <p:nvPr/>
        </p:nvSpPr>
        <p:spPr>
          <a:xfrm>
            <a:off x="731520" y="155448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4389120"/>
          </a:xfrm>
          <a:prstGeom prst="roundRect">
            <a:avLst/>
          </a:prstGeom>
          <a:solidFill>
            <a:srgbClr val="111A2E"/>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57400"/>
            <a:ext cx="4663440" cy="3931920"/>
          </a:xfrm>
          <a:prstGeom prst="rect">
            <a:avLst/>
          </a:prstGeom>
          <a:noFill/>
        </p:spPr>
        <p:txBody>
          <a:bodyPr wrap="square">
            <a:spAutoFit/>
          </a:bodyPr>
          <a:lstStyle/>
          <a:p>
            <a:pPr>
              <a:defRPr sz="1600" b="1">
                <a:solidFill>
                  <a:srgbClr val="F8FAFC"/>
                </a:solidFill>
                <a:latin typeface="Arial"/>
              </a:defRPr>
            </a:pPr>
            <a:r>
              <a:t>The 'Golden Hour' in Trauma Care</a:t>
            </a:r>
          </a:p>
          <a:p>
            <a:pPr>
              <a:spcAft>
                <a:spcPts val="800"/>
              </a:spcAft>
              <a:defRPr sz="1000" b="1">
                <a:solidFill>
                  <a:srgbClr val="38BDF8"/>
                </a:solidFill>
              </a:defRPr>
            </a:pPr>
            <a:r>
              <a:t>[Clinical Problem Statement]</a:t>
            </a:r>
          </a:p>
          <a:p>
            <a:pPr>
              <a:spcAft>
                <a:spcPts val="600"/>
              </a:spcAft>
              <a:defRPr sz="1200">
                <a:solidFill>
                  <a:srgbClr val="94A3B8"/>
                </a:solidFill>
                <a:latin typeface="Arial"/>
              </a:defRPr>
            </a:pPr>
            <a:r>
              <a:t>•  Two-wheeler riders account for over 45% of road collision fatalities worldwide.</a:t>
            </a:r>
          </a:p>
          <a:p>
            <a:pPr>
              <a:spcAft>
                <a:spcPts val="600"/>
              </a:spcAft>
              <a:defRPr sz="1200">
                <a:solidFill>
                  <a:srgbClr val="94A3B8"/>
                </a:solidFill>
                <a:latin typeface="Arial"/>
              </a:defRPr>
            </a:pPr>
            <a:r>
              <a:t>•  The primary factor determining survival is response time during the 'Golden Hour'.</a:t>
            </a:r>
          </a:p>
          <a:p>
            <a:pPr>
              <a:spcAft>
                <a:spcPts val="600"/>
              </a:spcAft>
              <a:defRPr sz="1200">
                <a:solidFill>
                  <a:srgbClr val="94A3B8"/>
                </a:solidFill>
                <a:latin typeface="Arial"/>
              </a:defRPr>
            </a:pPr>
            <a:r>
              <a:t>•  Riders who crash in remote areas, night roads, or off-ramps often cannot call for help.</a:t>
            </a:r>
          </a:p>
          <a:p>
            <a:pPr>
              <a:spcAft>
                <a:spcPts val="600"/>
              </a:spcAft>
              <a:defRPr sz="1200">
                <a:solidFill>
                  <a:srgbClr val="94A3B8"/>
                </a:solidFill>
                <a:latin typeface="Arial"/>
              </a:defRPr>
            </a:pPr>
            <a:r>
              <a:t>•  An automated system must detect impact shockwaves, capture exact GPS coordinates, and notify responders immediately.</a:t>
            </a:r>
          </a:p>
        </p:txBody>
      </p:sp>
      <p:sp>
        <p:nvSpPr>
          <p:cNvPr id="8" name="Rounded Rectangle 7"/>
          <p:cNvSpPr/>
          <p:nvPr/>
        </p:nvSpPr>
        <p:spPr>
          <a:xfrm>
            <a:off x="6217920" y="1828800"/>
            <a:ext cx="5212080" cy="4389120"/>
          </a:xfrm>
          <a:prstGeom prst="roundRect">
            <a:avLst/>
          </a:prstGeom>
          <a:solidFill>
            <a:srgbClr val="111A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2057400"/>
            <a:ext cx="4754880" cy="3931920"/>
          </a:xfrm>
          <a:prstGeom prst="rect">
            <a:avLst/>
          </a:prstGeom>
          <a:noFill/>
        </p:spPr>
        <p:txBody>
          <a:bodyPr wrap="square">
            <a:spAutoFit/>
          </a:bodyPr>
          <a:lstStyle/>
          <a:p>
            <a:pPr>
              <a:defRPr sz="1600" b="1">
                <a:solidFill>
                  <a:srgbClr val="F8FAFC"/>
                </a:solidFill>
                <a:latin typeface="Arial"/>
              </a:defRPr>
            </a:pPr>
            <a:r>
              <a:t>The Software-First Solution</a:t>
            </a:r>
          </a:p>
          <a:p>
            <a:pPr>
              <a:spcAft>
                <a:spcPts val="800"/>
              </a:spcAft>
              <a:defRPr sz="1000" b="1">
                <a:solidFill>
                  <a:srgbClr val="38BDF8"/>
                </a:solidFill>
              </a:defRPr>
            </a:pPr>
            <a:r>
              <a:t>[Core Innovation]</a:t>
            </a:r>
          </a:p>
          <a:p>
            <a:pPr>
              <a:spcAft>
                <a:spcPts val="600"/>
              </a:spcAft>
              <a:defRPr sz="1200">
                <a:solidFill>
                  <a:srgbClr val="94A3B8"/>
                </a:solidFill>
                <a:latin typeface="Arial"/>
              </a:defRPr>
            </a:pPr>
            <a:r>
              <a:t>•  Eliminates hardware hurdles: No soldering, broken wires, or expensive microcontroller kits needed to evaluate system viability.</a:t>
            </a:r>
          </a:p>
          <a:p>
            <a:pPr>
              <a:spcAft>
                <a:spcPts val="600"/>
              </a:spcAft>
              <a:defRPr sz="1200">
                <a:solidFill>
                  <a:srgbClr val="94A3B8"/>
                </a:solidFill>
                <a:latin typeface="Arial"/>
              </a:defRPr>
            </a:pPr>
            <a:r>
              <a:t>•  Algorithmic Sensor Simulator: Generates realistic 3-axis accelerometer fluctuations (X, Y, Z) and speed damping.</a:t>
            </a:r>
          </a:p>
          <a:p>
            <a:pPr>
              <a:spcAft>
                <a:spcPts val="600"/>
              </a:spcAft>
              <a:defRPr sz="1200">
                <a:solidFill>
                  <a:srgbClr val="94A3B8"/>
                </a:solidFill>
                <a:latin typeface="Arial"/>
              </a:defRPr>
            </a:pPr>
            <a:r>
              <a:t>•  Instant Distress Workflow: Audio synthesizer alarm, Leaflet OpenStreetMap pins, and one-click Google Maps links.</a:t>
            </a:r>
          </a:p>
          <a:p>
            <a:pPr>
              <a:spcAft>
                <a:spcPts val="600"/>
              </a:spcAft>
              <a:defRPr sz="1200">
                <a:solidFill>
                  <a:srgbClr val="94A3B8"/>
                </a:solidFill>
                <a:latin typeface="Arial"/>
              </a:defRPr>
            </a:pPr>
            <a:r>
              <a:t>•  Persistent Data Store: Works offline with browser LocalStorage and scales seamlessly to Cloud Firestore.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a:spAutoFit/>
          </a:bodyPr>
          <a:lstStyle/>
          <a:p>
            <a:pPr>
              <a:defRPr sz="1100" b="1">
                <a:solidFill>
                  <a:srgbClr val="38BDF8"/>
                </a:solidFill>
                <a:latin typeface="Arial"/>
              </a:defRPr>
            </a:pPr>
            <a:r>
              <a:t>SMART HELMET SAFETY SYSTEM — SOFTWARE VERSION</a:t>
            </a:r>
          </a:p>
        </p:txBody>
      </p:sp>
      <p:sp>
        <p:nvSpPr>
          <p:cNvPr id="4" name="TextBox 3"/>
          <p:cNvSpPr txBox="1"/>
          <p:nvPr/>
        </p:nvSpPr>
        <p:spPr>
          <a:xfrm>
            <a:off x="731520" y="777240"/>
            <a:ext cx="10515600" cy="731520"/>
          </a:xfrm>
          <a:prstGeom prst="rect">
            <a:avLst/>
          </a:prstGeom>
          <a:noFill/>
        </p:spPr>
        <p:txBody>
          <a:bodyPr wrap="square">
            <a:spAutoFit/>
          </a:bodyPr>
          <a:lstStyle/>
          <a:p>
            <a:pPr>
              <a:defRPr sz="2400" b="1">
                <a:solidFill>
                  <a:srgbClr val="F8FAFC"/>
                </a:solidFill>
                <a:latin typeface="Arial"/>
              </a:defRPr>
            </a:pPr>
            <a:r>
              <a:t>Problem Statement &amp; Engineering Challenges</a:t>
            </a:r>
          </a:p>
        </p:txBody>
      </p:sp>
      <p:sp>
        <p:nvSpPr>
          <p:cNvPr id="5" name="Rectangle 4"/>
          <p:cNvSpPr/>
          <p:nvPr/>
        </p:nvSpPr>
        <p:spPr>
          <a:xfrm>
            <a:off x="731520" y="155448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3291840" cy="4389120"/>
          </a:xfrm>
          <a:prstGeom prst="roundRect">
            <a:avLst/>
          </a:prstGeom>
          <a:solidFill>
            <a:srgbClr val="111A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57400"/>
            <a:ext cx="2834640" cy="3931920"/>
          </a:xfrm>
          <a:prstGeom prst="rect">
            <a:avLst/>
          </a:prstGeom>
          <a:noFill/>
        </p:spPr>
        <p:txBody>
          <a:bodyPr wrap="square">
            <a:spAutoFit/>
          </a:bodyPr>
          <a:lstStyle/>
          <a:p>
            <a:pPr>
              <a:defRPr sz="1600" b="1">
                <a:solidFill>
                  <a:srgbClr val="F8FAFC"/>
                </a:solidFill>
                <a:latin typeface="Arial"/>
              </a:defRPr>
            </a:pPr>
            <a:r>
              <a:t>Physical IoT Limitations</a:t>
            </a:r>
          </a:p>
          <a:p>
            <a:pPr>
              <a:spcAft>
                <a:spcPts val="800"/>
              </a:spcAft>
              <a:defRPr sz="1000" b="1">
                <a:solidFill>
                  <a:srgbClr val="38BDF8"/>
                </a:solidFill>
              </a:defRPr>
            </a:pPr>
            <a:r>
              <a:t>[Why Software Matters]</a:t>
            </a:r>
          </a:p>
          <a:p>
            <a:pPr>
              <a:spcAft>
                <a:spcPts val="600"/>
              </a:spcAft>
              <a:defRPr sz="1200">
                <a:solidFill>
                  <a:srgbClr val="94A3B8"/>
                </a:solidFill>
                <a:latin typeface="Arial"/>
              </a:defRPr>
            </a:pPr>
            <a:r>
              <a:t>•  Hardware prototyping costs $100-$300 per unit (ESP32, MPU6050, GPS, GSM).</a:t>
            </a:r>
          </a:p>
          <a:p>
            <a:pPr>
              <a:spcAft>
                <a:spcPts val="600"/>
              </a:spcAft>
              <a:defRPr sz="1200">
                <a:solidFill>
                  <a:srgbClr val="94A3B8"/>
                </a:solidFill>
                <a:latin typeface="Arial"/>
              </a:defRPr>
            </a:pPr>
            <a:r>
              <a:t>•  Fragile breadboard connections fail during physical demonstration.</a:t>
            </a:r>
          </a:p>
          <a:p>
            <a:pPr>
              <a:spcAft>
                <a:spcPts val="600"/>
              </a:spcAft>
              <a:defRPr sz="1200">
                <a:solidFill>
                  <a:srgbClr val="94A3B8"/>
                </a:solidFill>
                <a:latin typeface="Arial"/>
              </a:defRPr>
            </a:pPr>
            <a:r>
              <a:t>•  Indoor college testing cannot receive satellite GPS signals easily.</a:t>
            </a:r>
          </a:p>
          <a:p>
            <a:pPr>
              <a:spcAft>
                <a:spcPts val="600"/>
              </a:spcAft>
              <a:defRPr sz="1200">
                <a:solidFill>
                  <a:srgbClr val="94A3B8"/>
                </a:solidFill>
                <a:latin typeface="Arial"/>
              </a:defRPr>
            </a:pPr>
            <a:r>
              <a:t>•  Hardware lock-in slows down user interface testing and triage workflow design.</a:t>
            </a:r>
          </a:p>
        </p:txBody>
      </p:sp>
      <p:sp>
        <p:nvSpPr>
          <p:cNvPr id="8" name="Rounded Rectangle 7"/>
          <p:cNvSpPr/>
          <p:nvPr/>
        </p:nvSpPr>
        <p:spPr>
          <a:xfrm>
            <a:off x="4389120" y="1828800"/>
            <a:ext cx="3383280" cy="4389120"/>
          </a:xfrm>
          <a:prstGeom prst="roundRect">
            <a:avLst/>
          </a:prstGeom>
          <a:solidFill>
            <a:srgbClr val="111A2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2057400"/>
            <a:ext cx="2926080" cy="3931920"/>
          </a:xfrm>
          <a:prstGeom prst="rect">
            <a:avLst/>
          </a:prstGeom>
          <a:noFill/>
        </p:spPr>
        <p:txBody>
          <a:bodyPr wrap="square">
            <a:spAutoFit/>
          </a:bodyPr>
          <a:lstStyle/>
          <a:p>
            <a:pPr>
              <a:defRPr sz="1600" b="1">
                <a:solidFill>
                  <a:srgbClr val="F8FAFC"/>
                </a:solidFill>
                <a:latin typeface="Arial"/>
              </a:defRPr>
            </a:pPr>
            <a:r>
              <a:t>Communication Bottlenecks</a:t>
            </a:r>
          </a:p>
          <a:p>
            <a:pPr>
              <a:spcAft>
                <a:spcPts val="800"/>
              </a:spcAft>
              <a:defRPr sz="1000" b="1">
                <a:solidFill>
                  <a:srgbClr val="38BDF8"/>
                </a:solidFill>
              </a:defRPr>
            </a:pPr>
            <a:r>
              <a:t>[Life-Threatening Delays]</a:t>
            </a:r>
          </a:p>
          <a:p>
            <a:pPr>
              <a:spcAft>
                <a:spcPts val="600"/>
              </a:spcAft>
              <a:defRPr sz="1200">
                <a:solidFill>
                  <a:srgbClr val="94A3B8"/>
                </a:solidFill>
                <a:latin typeface="Arial"/>
              </a:defRPr>
            </a:pPr>
            <a:r>
              <a:t>•  Victims are frequently unconscious or in traumatic shock following collision.</a:t>
            </a:r>
          </a:p>
          <a:p>
            <a:pPr>
              <a:spcAft>
                <a:spcPts val="600"/>
              </a:spcAft>
              <a:defRPr sz="1200">
                <a:solidFill>
                  <a:srgbClr val="94A3B8"/>
                </a:solidFill>
                <a:latin typeface="Arial"/>
              </a:defRPr>
            </a:pPr>
            <a:r>
              <a:t>•  Manual panic button presses are often impossible after head trauma.</a:t>
            </a:r>
          </a:p>
          <a:p>
            <a:pPr>
              <a:spcAft>
                <a:spcPts val="600"/>
              </a:spcAft>
              <a:defRPr sz="1200">
                <a:solidFill>
                  <a:srgbClr val="94A3B8"/>
                </a:solidFill>
                <a:latin typeface="Arial"/>
              </a:defRPr>
            </a:pPr>
            <a:r>
              <a:t>•  Traditional dispatch centers lack exact coordinates and blood type records.</a:t>
            </a:r>
          </a:p>
          <a:p>
            <a:pPr>
              <a:spcAft>
                <a:spcPts val="600"/>
              </a:spcAft>
              <a:defRPr sz="1200">
                <a:solidFill>
                  <a:srgbClr val="94A3B8"/>
                </a:solidFill>
                <a:latin typeface="Arial"/>
              </a:defRPr>
            </a:pPr>
            <a:r>
              <a:t>•  Family members are notified hours later rather than within initial minutes.</a:t>
            </a:r>
          </a:p>
        </p:txBody>
      </p:sp>
      <p:sp>
        <p:nvSpPr>
          <p:cNvPr id="10" name="Rounded Rectangle 9"/>
          <p:cNvSpPr/>
          <p:nvPr/>
        </p:nvSpPr>
        <p:spPr>
          <a:xfrm>
            <a:off x="8138160" y="1828800"/>
            <a:ext cx="3291840" cy="4389120"/>
          </a:xfrm>
          <a:prstGeom prst="roundRect">
            <a:avLst/>
          </a:prstGeom>
          <a:solidFill>
            <a:srgbClr val="111A2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2057400"/>
            <a:ext cx="2834640" cy="3931920"/>
          </a:xfrm>
          <a:prstGeom prst="rect">
            <a:avLst/>
          </a:prstGeom>
          <a:noFill/>
        </p:spPr>
        <p:txBody>
          <a:bodyPr wrap="square">
            <a:spAutoFit/>
          </a:bodyPr>
          <a:lstStyle/>
          <a:p>
            <a:pPr>
              <a:defRPr sz="1600" b="1">
                <a:solidFill>
                  <a:srgbClr val="F8FAFC"/>
                </a:solidFill>
                <a:latin typeface="Arial"/>
              </a:defRPr>
            </a:pPr>
            <a:r>
              <a:t>Target Objectives</a:t>
            </a:r>
          </a:p>
          <a:p>
            <a:pPr>
              <a:spcAft>
                <a:spcPts val="800"/>
              </a:spcAft>
              <a:defRPr sz="1000" b="1">
                <a:solidFill>
                  <a:srgbClr val="38BDF8"/>
                </a:solidFill>
              </a:defRPr>
            </a:pPr>
            <a:r>
              <a:t>[System Deliverables]</a:t>
            </a:r>
          </a:p>
          <a:p>
            <a:pPr>
              <a:spcAft>
                <a:spcPts val="600"/>
              </a:spcAft>
              <a:defRPr sz="1200">
                <a:solidFill>
                  <a:srgbClr val="94A3B8"/>
                </a:solidFill>
                <a:latin typeface="Arial"/>
              </a:defRPr>
            </a:pPr>
            <a:r>
              <a:t>•  Zero-Hardware Barrier: Run anywhere on any modern web browser.</a:t>
            </a:r>
          </a:p>
          <a:p>
            <a:pPr>
              <a:spcAft>
                <a:spcPts val="600"/>
              </a:spcAft>
              <a:defRPr sz="1200">
                <a:solidFill>
                  <a:srgbClr val="94A3B8"/>
                </a:solidFill>
                <a:latin typeface="Arial"/>
              </a:defRPr>
            </a:pPr>
            <a:r>
              <a:t>•  Multi-Role System: Support Dispatch Officers and Registered Riders.</a:t>
            </a:r>
          </a:p>
          <a:p>
            <a:pPr>
              <a:spcAft>
                <a:spcPts val="600"/>
              </a:spcAft>
              <a:defRPr sz="1200">
                <a:solidFill>
                  <a:srgbClr val="94A3B8"/>
                </a:solidFill>
                <a:latin typeface="Arial"/>
              </a:defRPr>
            </a:pPr>
            <a:r>
              <a:t>•  Real-Time Spatial Triage: Color-coded severity pins on interactive maps.</a:t>
            </a:r>
          </a:p>
          <a:p>
            <a:pPr>
              <a:spcAft>
                <a:spcPts val="600"/>
              </a:spcAft>
              <a:defRPr sz="1200">
                <a:solidFill>
                  <a:srgbClr val="94A3B8"/>
                </a:solidFill>
                <a:latin typeface="Arial"/>
              </a:defRPr>
            </a:pPr>
            <a:r>
              <a:t>•  Data Longevity: Export incident ledgers to CSV for safety audit compliance.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a:spAutoFit/>
          </a:bodyPr>
          <a:lstStyle/>
          <a:p>
            <a:pPr>
              <a:defRPr sz="1100" b="1">
                <a:solidFill>
                  <a:srgbClr val="38BDF8"/>
                </a:solidFill>
                <a:latin typeface="Arial"/>
              </a:defRPr>
            </a:pPr>
            <a:r>
              <a:t>SMART HELMET SAFETY SYSTEM — SOFTWARE VERSION</a:t>
            </a:r>
          </a:p>
        </p:txBody>
      </p:sp>
      <p:sp>
        <p:nvSpPr>
          <p:cNvPr id="4" name="TextBox 3"/>
          <p:cNvSpPr txBox="1"/>
          <p:nvPr/>
        </p:nvSpPr>
        <p:spPr>
          <a:xfrm>
            <a:off x="731520" y="777240"/>
            <a:ext cx="10515600" cy="731520"/>
          </a:xfrm>
          <a:prstGeom prst="rect">
            <a:avLst/>
          </a:prstGeom>
          <a:noFill/>
        </p:spPr>
        <p:txBody>
          <a:bodyPr wrap="square">
            <a:spAutoFit/>
          </a:bodyPr>
          <a:lstStyle/>
          <a:p>
            <a:pPr>
              <a:defRPr sz="2400" b="1">
                <a:solidFill>
                  <a:srgbClr val="F8FAFC"/>
                </a:solidFill>
                <a:latin typeface="Arial"/>
              </a:defRPr>
            </a:pPr>
            <a:r>
              <a:t>End-to-End System Architecture &amp; Data Flow</a:t>
            </a:r>
          </a:p>
        </p:txBody>
      </p:sp>
      <p:sp>
        <p:nvSpPr>
          <p:cNvPr id="5" name="Rectangle 4"/>
          <p:cNvSpPr/>
          <p:nvPr/>
        </p:nvSpPr>
        <p:spPr>
          <a:xfrm>
            <a:off x="731520" y="155448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3291840" cy="4389120"/>
          </a:xfrm>
          <a:prstGeom prst="roundRect">
            <a:avLst/>
          </a:prstGeom>
          <a:solidFill>
            <a:srgbClr val="111A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57400"/>
            <a:ext cx="2834640" cy="3931920"/>
          </a:xfrm>
          <a:prstGeom prst="rect">
            <a:avLst/>
          </a:prstGeom>
          <a:noFill/>
        </p:spPr>
        <p:txBody>
          <a:bodyPr wrap="square">
            <a:spAutoFit/>
          </a:bodyPr>
          <a:lstStyle/>
          <a:p>
            <a:pPr>
              <a:defRPr sz="1600" b="1">
                <a:solidFill>
                  <a:srgbClr val="F8FAFC"/>
                </a:solidFill>
                <a:latin typeface="Arial"/>
              </a:defRPr>
            </a:pPr>
            <a:r>
              <a:t>1. Telemetry Simulation</a:t>
            </a:r>
          </a:p>
          <a:p>
            <a:pPr>
              <a:spcAft>
                <a:spcPts val="800"/>
              </a:spcAft>
              <a:defRPr sz="1000" b="1">
                <a:solidFill>
                  <a:srgbClr val="38BDF8"/>
                </a:solidFill>
              </a:defRPr>
            </a:pPr>
            <a:r>
              <a:t>[Sensor Engine]</a:t>
            </a:r>
          </a:p>
          <a:p>
            <a:pPr>
              <a:spcAft>
                <a:spcPts val="600"/>
              </a:spcAft>
              <a:defRPr sz="1200">
                <a:solidFill>
                  <a:srgbClr val="94A3B8"/>
                </a:solidFill>
                <a:latin typeface="Arial"/>
              </a:defRPr>
            </a:pPr>
            <a:r>
              <a:t>•  Generates 3-axis acceleration (X, Y, Z) fluctuating at 1.5s intervals.</a:t>
            </a:r>
          </a:p>
          <a:p>
            <a:pPr>
              <a:spcAft>
                <a:spcPts val="600"/>
              </a:spcAft>
              <a:defRPr sz="1200">
                <a:solidFill>
                  <a:srgbClr val="94A3B8"/>
                </a:solidFill>
                <a:latin typeface="Arial"/>
              </a:defRPr>
            </a:pPr>
            <a:r>
              <a:t>•  Cruising vector approximates 1.0G (Earth gravity) + road vibrations.</a:t>
            </a:r>
          </a:p>
          <a:p>
            <a:pPr>
              <a:spcAft>
                <a:spcPts val="600"/>
              </a:spcAft>
              <a:defRPr sz="1200">
                <a:solidFill>
                  <a:srgbClr val="94A3B8"/>
                </a:solidFill>
                <a:latin typeface="Arial"/>
              </a:defRPr>
            </a:pPr>
            <a:r>
              <a:t>•  Infrared proximity sensor toggles Worn on Head vs. Helmet Removed.</a:t>
            </a:r>
          </a:p>
          <a:p>
            <a:pPr>
              <a:spcAft>
                <a:spcPts val="600"/>
              </a:spcAft>
              <a:defRPr sz="1200">
                <a:solidFill>
                  <a:srgbClr val="94A3B8"/>
                </a:solidFill>
                <a:latin typeface="Arial"/>
              </a:defRPr>
            </a:pPr>
            <a:r>
              <a:t>•  RF link simulation monitors Bluetooth/Wi-Fi connection integrity.</a:t>
            </a:r>
          </a:p>
        </p:txBody>
      </p:sp>
      <p:sp>
        <p:nvSpPr>
          <p:cNvPr id="8" name="Rounded Rectangle 7"/>
          <p:cNvSpPr/>
          <p:nvPr/>
        </p:nvSpPr>
        <p:spPr>
          <a:xfrm>
            <a:off x="4389120" y="1828800"/>
            <a:ext cx="3383280" cy="4389120"/>
          </a:xfrm>
          <a:prstGeom prst="roundRect">
            <a:avLst/>
          </a:prstGeom>
          <a:solidFill>
            <a:srgbClr val="111A2E"/>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2057400"/>
            <a:ext cx="2926080" cy="3931920"/>
          </a:xfrm>
          <a:prstGeom prst="rect">
            <a:avLst/>
          </a:prstGeom>
          <a:noFill/>
        </p:spPr>
        <p:txBody>
          <a:bodyPr wrap="square">
            <a:spAutoFit/>
          </a:bodyPr>
          <a:lstStyle/>
          <a:p>
            <a:pPr>
              <a:defRPr sz="1600" b="1">
                <a:solidFill>
                  <a:srgbClr val="F8FAFC"/>
                </a:solidFill>
                <a:latin typeface="Arial"/>
              </a:defRPr>
            </a:pPr>
            <a:r>
              <a:t>2. Crash Detection Pipeline</a:t>
            </a:r>
          </a:p>
          <a:p>
            <a:pPr>
              <a:spcAft>
                <a:spcPts val="800"/>
              </a:spcAft>
              <a:defRPr sz="1000" b="1">
                <a:solidFill>
                  <a:srgbClr val="38BDF8"/>
                </a:solidFill>
              </a:defRPr>
            </a:pPr>
            <a:r>
              <a:t>[Detection Logic]</a:t>
            </a:r>
          </a:p>
          <a:p>
            <a:pPr>
              <a:spcAft>
                <a:spcPts val="600"/>
              </a:spcAft>
              <a:defRPr sz="1200">
                <a:solidFill>
                  <a:srgbClr val="94A3B8"/>
                </a:solidFill>
                <a:latin typeface="Arial"/>
              </a:defRPr>
            </a:pPr>
            <a:r>
              <a:t>•  Calculates resultant G-Force: sqrt(X^2 + Y^2 + Z^2).</a:t>
            </a:r>
          </a:p>
          <a:p>
            <a:pPr>
              <a:spcAft>
                <a:spcPts val="600"/>
              </a:spcAft>
              <a:defRPr sz="1200">
                <a:solidFill>
                  <a:srgbClr val="94A3B8"/>
                </a:solidFill>
                <a:latin typeface="Arial"/>
              </a:defRPr>
            </a:pPr>
            <a:r>
              <a:t>•  Triggers emergency alert when impact vector exceeds 4.0G threshold.</a:t>
            </a:r>
          </a:p>
          <a:p>
            <a:pPr>
              <a:spcAft>
                <a:spcPts val="600"/>
              </a:spcAft>
              <a:defRPr sz="1200">
                <a:solidFill>
                  <a:srgbClr val="94A3B8"/>
                </a:solidFill>
                <a:latin typeface="Arial"/>
              </a:defRPr>
            </a:pPr>
            <a:r>
              <a:t>•  Concurrently dampens speed to 0 km/h to simulate impact stop.</a:t>
            </a:r>
          </a:p>
          <a:p>
            <a:pPr>
              <a:spcAft>
                <a:spcPts val="600"/>
              </a:spcAft>
              <a:defRPr sz="1200">
                <a:solidFill>
                  <a:srgbClr val="94A3B8"/>
                </a:solidFill>
                <a:latin typeface="Arial"/>
              </a:defRPr>
            </a:pPr>
            <a:r>
              <a:t>•  Activates Web Audio API 880Hz emergency alarm beacon.</a:t>
            </a:r>
          </a:p>
          <a:p>
            <a:pPr>
              <a:spcAft>
                <a:spcPts val="600"/>
              </a:spcAft>
              <a:defRPr sz="1200">
                <a:solidFill>
                  <a:srgbClr val="94A3B8"/>
                </a:solidFill>
                <a:latin typeface="Arial"/>
              </a:defRPr>
            </a:pPr>
            <a:r>
              <a:t>•  Captures live browser coordinates via Geolocation API.</a:t>
            </a:r>
          </a:p>
        </p:txBody>
      </p:sp>
      <p:sp>
        <p:nvSpPr>
          <p:cNvPr id="10" name="Rounded Rectangle 9"/>
          <p:cNvSpPr/>
          <p:nvPr/>
        </p:nvSpPr>
        <p:spPr>
          <a:xfrm>
            <a:off x="8138160" y="1828800"/>
            <a:ext cx="3291840" cy="4389120"/>
          </a:xfrm>
          <a:prstGeom prst="roundRect">
            <a:avLst/>
          </a:prstGeom>
          <a:solidFill>
            <a:srgbClr val="111A2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2057400"/>
            <a:ext cx="2834640" cy="3931920"/>
          </a:xfrm>
          <a:prstGeom prst="rect">
            <a:avLst/>
          </a:prstGeom>
          <a:noFill/>
        </p:spPr>
        <p:txBody>
          <a:bodyPr wrap="square">
            <a:spAutoFit/>
          </a:bodyPr>
          <a:lstStyle/>
          <a:p>
            <a:pPr>
              <a:defRPr sz="1600" b="1">
                <a:solidFill>
                  <a:srgbClr val="F8FAFC"/>
                </a:solidFill>
                <a:latin typeface="Arial"/>
              </a:defRPr>
            </a:pPr>
            <a:r>
              <a:t>3. Dispatch &amp; Triage</a:t>
            </a:r>
          </a:p>
          <a:p>
            <a:pPr>
              <a:spcAft>
                <a:spcPts val="800"/>
              </a:spcAft>
              <a:defRPr sz="1000" b="1">
                <a:solidFill>
                  <a:srgbClr val="38BDF8"/>
                </a:solidFill>
              </a:defRPr>
            </a:pPr>
            <a:r>
              <a:t>[Response Hub]</a:t>
            </a:r>
          </a:p>
          <a:p>
            <a:pPr>
              <a:spcAft>
                <a:spcPts val="600"/>
              </a:spcAft>
              <a:defRPr sz="1200">
                <a:solidFill>
                  <a:srgbClr val="94A3B8"/>
                </a:solidFill>
                <a:latin typeface="Arial"/>
              </a:defRPr>
            </a:pPr>
            <a:r>
              <a:t>•  Saves timestamped incident record with unique INC-YYYY-XXX ID.</a:t>
            </a:r>
          </a:p>
          <a:p>
            <a:pPr>
              <a:spcAft>
                <a:spcPts val="600"/>
              </a:spcAft>
              <a:defRPr sz="1200">
                <a:solidFill>
                  <a:srgbClr val="94A3B8"/>
                </a:solidFill>
                <a:latin typeface="Arial"/>
              </a:defRPr>
            </a:pPr>
            <a:r>
              <a:t>•  Updates Dashboard KPI counters and Chart.js distribution charts.</a:t>
            </a:r>
          </a:p>
          <a:p>
            <a:pPr>
              <a:spcAft>
                <a:spcPts val="600"/>
              </a:spcAft>
              <a:defRPr sz="1200">
                <a:solidFill>
                  <a:srgbClr val="94A3B8"/>
                </a:solidFill>
                <a:latin typeface="Arial"/>
              </a:defRPr>
            </a:pPr>
            <a:r>
              <a:t>•  Plots interactive pin on Leaflet map with direct Google Maps route link.</a:t>
            </a:r>
          </a:p>
          <a:p>
            <a:pPr>
              <a:spcAft>
                <a:spcPts val="600"/>
              </a:spcAft>
              <a:defRPr sz="1200">
                <a:solidFill>
                  <a:srgbClr val="94A3B8"/>
                </a:solidFill>
                <a:latin typeface="Arial"/>
              </a:defRPr>
            </a:pPr>
            <a:r>
              <a:t>•  Generates click-to-call and pre-filled emergency SMS dispatches.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a:spAutoFit/>
          </a:bodyPr>
          <a:lstStyle/>
          <a:p>
            <a:pPr>
              <a:defRPr sz="1100" b="1">
                <a:solidFill>
                  <a:srgbClr val="38BDF8"/>
                </a:solidFill>
                <a:latin typeface="Arial"/>
              </a:defRPr>
            </a:pPr>
            <a:r>
              <a:t>SMART HELMET SAFETY SYSTEM — SOFTWARE VERSION</a:t>
            </a:r>
          </a:p>
        </p:txBody>
      </p:sp>
      <p:sp>
        <p:nvSpPr>
          <p:cNvPr id="4" name="TextBox 3"/>
          <p:cNvSpPr txBox="1"/>
          <p:nvPr/>
        </p:nvSpPr>
        <p:spPr>
          <a:xfrm>
            <a:off x="731520" y="777240"/>
            <a:ext cx="10515600" cy="731520"/>
          </a:xfrm>
          <a:prstGeom prst="rect">
            <a:avLst/>
          </a:prstGeom>
          <a:noFill/>
        </p:spPr>
        <p:txBody>
          <a:bodyPr wrap="square">
            <a:spAutoFit/>
          </a:bodyPr>
          <a:lstStyle/>
          <a:p>
            <a:pPr>
              <a:defRPr sz="2400" b="1">
                <a:solidFill>
                  <a:srgbClr val="F8FAFC"/>
                </a:solidFill>
                <a:latin typeface="Arial"/>
              </a:defRPr>
            </a:pPr>
            <a:r>
              <a:t>Accident Detection Algorithm &amp; Mathematical Formulation</a:t>
            </a:r>
          </a:p>
        </p:txBody>
      </p:sp>
      <p:sp>
        <p:nvSpPr>
          <p:cNvPr id="5" name="Rectangle 4"/>
          <p:cNvSpPr/>
          <p:nvPr/>
        </p:nvSpPr>
        <p:spPr>
          <a:xfrm>
            <a:off x="731520" y="155448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4389120"/>
          </a:xfrm>
          <a:prstGeom prst="roundRect">
            <a:avLst/>
          </a:prstGeom>
          <a:solidFill>
            <a:srgbClr val="111A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57400"/>
            <a:ext cx="4663440" cy="3931920"/>
          </a:xfrm>
          <a:prstGeom prst="rect">
            <a:avLst/>
          </a:prstGeom>
          <a:noFill/>
        </p:spPr>
        <p:txBody>
          <a:bodyPr wrap="square">
            <a:spAutoFit/>
          </a:bodyPr>
          <a:lstStyle/>
          <a:p>
            <a:pPr>
              <a:defRPr sz="1600" b="1">
                <a:solidFill>
                  <a:srgbClr val="F8FAFC"/>
                </a:solidFill>
                <a:latin typeface="Arial"/>
              </a:defRPr>
            </a:pPr>
            <a:r>
              <a:t>Resultant G-Force Vector Formula</a:t>
            </a:r>
          </a:p>
          <a:p>
            <a:pPr>
              <a:spcAft>
                <a:spcPts val="800"/>
              </a:spcAft>
              <a:defRPr sz="1000" b="1">
                <a:solidFill>
                  <a:srgbClr val="38BDF8"/>
                </a:solidFill>
              </a:defRPr>
            </a:pPr>
            <a:r>
              <a:t>[Kinematic Physics Engine]</a:t>
            </a:r>
          </a:p>
          <a:p>
            <a:pPr>
              <a:spcAft>
                <a:spcPts val="600"/>
              </a:spcAft>
              <a:defRPr sz="1200">
                <a:solidFill>
                  <a:srgbClr val="94A3B8"/>
                </a:solidFill>
                <a:latin typeface="Arial"/>
              </a:defRPr>
            </a:pPr>
            <a:r>
              <a:t>•  Formula: G_net = sqrt(a_x^2 + a_y^2 + a_z^2)</a:t>
            </a:r>
          </a:p>
          <a:p>
            <a:pPr>
              <a:spcAft>
                <a:spcPts val="600"/>
              </a:spcAft>
              <a:defRPr sz="1200">
                <a:solidFill>
                  <a:srgbClr val="94A3B8"/>
                </a:solidFill>
                <a:latin typeface="Arial"/>
              </a:defRPr>
            </a:pPr>
            <a:r>
              <a:t>•  Where a_x, a_y, a_z are tri-axial acceleration vectors in G units (1G = 9.81 m/s²).</a:t>
            </a:r>
          </a:p>
          <a:p>
            <a:pPr>
              <a:spcAft>
                <a:spcPts val="600"/>
              </a:spcAft>
              <a:defRPr sz="1200">
                <a:solidFill>
                  <a:srgbClr val="94A3B8"/>
                </a:solidFill>
                <a:latin typeface="Arial"/>
              </a:defRPr>
            </a:pPr>
            <a:r>
              <a:t>•  Normal Riding: G_net ≈ 0.95G to 1.15G (Earth vertical gravity + minor vibration).</a:t>
            </a:r>
          </a:p>
          <a:p>
            <a:pPr>
              <a:spcAft>
                <a:spcPts val="600"/>
              </a:spcAft>
              <a:defRPr sz="1200">
                <a:solidFill>
                  <a:srgbClr val="94A3B8"/>
                </a:solidFill>
                <a:latin typeface="Arial"/>
              </a:defRPr>
            </a:pPr>
            <a:r>
              <a:t>•  Speed Fluctuation: Cruising velocity modeled at 35–55 km/h.</a:t>
            </a:r>
          </a:p>
          <a:p>
            <a:pPr>
              <a:spcAft>
                <a:spcPts val="600"/>
              </a:spcAft>
              <a:defRPr sz="1200">
                <a:solidFill>
                  <a:srgbClr val="94A3B8"/>
                </a:solidFill>
                <a:latin typeface="Arial"/>
              </a:defRPr>
            </a:pPr>
            <a:r>
              <a:t>•  Tilt/Fall Detection: Lateral tilt &gt; 60° flags high rollover probability.</a:t>
            </a:r>
          </a:p>
        </p:txBody>
      </p:sp>
      <p:sp>
        <p:nvSpPr>
          <p:cNvPr id="8" name="Rounded Rectangle 7"/>
          <p:cNvSpPr/>
          <p:nvPr/>
        </p:nvSpPr>
        <p:spPr>
          <a:xfrm>
            <a:off x="6217920" y="1828800"/>
            <a:ext cx="5212080" cy="4389120"/>
          </a:xfrm>
          <a:prstGeom prst="roundRect">
            <a:avLst/>
          </a:prstGeom>
          <a:solidFill>
            <a:srgbClr val="111A2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2057400"/>
            <a:ext cx="4754880" cy="3931920"/>
          </a:xfrm>
          <a:prstGeom prst="rect">
            <a:avLst/>
          </a:prstGeom>
          <a:noFill/>
        </p:spPr>
        <p:txBody>
          <a:bodyPr wrap="square">
            <a:spAutoFit/>
          </a:bodyPr>
          <a:lstStyle/>
          <a:p>
            <a:pPr>
              <a:defRPr sz="1600" b="1">
                <a:solidFill>
                  <a:srgbClr val="F8FAFC"/>
                </a:solidFill>
                <a:latin typeface="Arial"/>
              </a:defRPr>
            </a:pPr>
            <a:r>
              <a:t>Severity Threshold Classification</a:t>
            </a:r>
          </a:p>
          <a:p>
            <a:pPr>
              <a:spcAft>
                <a:spcPts val="800"/>
              </a:spcAft>
              <a:defRPr sz="1000" b="1">
                <a:solidFill>
                  <a:srgbClr val="38BDF8"/>
                </a:solidFill>
              </a:defRPr>
            </a:pPr>
            <a:r>
              <a:t>[Threshold Tiers]</a:t>
            </a:r>
          </a:p>
          <a:p>
            <a:pPr>
              <a:spcAft>
                <a:spcPts val="600"/>
              </a:spcAft>
              <a:defRPr sz="1200">
                <a:solidFill>
                  <a:srgbClr val="94A3B8"/>
                </a:solidFill>
                <a:latin typeface="Arial"/>
              </a:defRPr>
            </a:pPr>
            <a:r>
              <a:t>•  Normal Range (&lt; 2.0G): Standard cruising, speed bumps, and minor braking.</a:t>
            </a:r>
          </a:p>
          <a:p>
            <a:pPr>
              <a:spcAft>
                <a:spcPts val="600"/>
              </a:spcAft>
              <a:defRPr sz="1200">
                <a:solidFill>
                  <a:srgbClr val="94A3B8"/>
                </a:solidFill>
                <a:latin typeface="Arial"/>
              </a:defRPr>
            </a:pPr>
            <a:r>
              <a:t>•  Warning Zone (2.0G – 4.0G): Hard emergency braking, skid, or moderate tilt.</a:t>
            </a:r>
          </a:p>
          <a:p>
            <a:pPr>
              <a:spcAft>
                <a:spcPts val="600"/>
              </a:spcAft>
              <a:defRPr sz="1200">
                <a:solidFill>
                  <a:srgbClr val="94A3B8"/>
                </a:solidFill>
                <a:latin typeface="Arial"/>
              </a:defRPr>
            </a:pPr>
            <a:r>
              <a:t>•  Critical Crash (&gt; 4.0G): Severe impact shockwave, head-on collision, or tumbling roll.</a:t>
            </a:r>
          </a:p>
          <a:p>
            <a:pPr>
              <a:spcAft>
                <a:spcPts val="600"/>
              </a:spcAft>
              <a:defRPr sz="1200">
                <a:solidFill>
                  <a:srgbClr val="94A3B8"/>
                </a:solidFill>
                <a:latin typeface="Arial"/>
              </a:defRPr>
            </a:pPr>
            <a:r>
              <a:t>•  Debounce State Lock: Prevents duplicate alert spamming during multiple rapid clicks.</a:t>
            </a:r>
          </a:p>
          <a:p>
            <a:pPr>
              <a:spcAft>
                <a:spcPts val="600"/>
              </a:spcAft>
              <a:defRPr sz="1200">
                <a:solidFill>
                  <a:srgbClr val="94A3B8"/>
                </a:solidFill>
                <a:latin typeface="Arial"/>
              </a:defRPr>
            </a:pPr>
            <a:r>
              <a:t>•  Audio Synthesizer: 880Hz sawtooth wave decaying to 440Hz via Web Audio API.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a:spAutoFit/>
          </a:bodyPr>
          <a:lstStyle/>
          <a:p>
            <a:pPr>
              <a:defRPr sz="1100" b="1">
                <a:solidFill>
                  <a:srgbClr val="38BDF8"/>
                </a:solidFill>
                <a:latin typeface="Arial"/>
              </a:defRPr>
            </a:pPr>
            <a:r>
              <a:t>SMART HELMET SAFETY SYSTEM — SOFTWARE VERSION</a:t>
            </a:r>
          </a:p>
        </p:txBody>
      </p:sp>
      <p:sp>
        <p:nvSpPr>
          <p:cNvPr id="4" name="TextBox 3"/>
          <p:cNvSpPr txBox="1"/>
          <p:nvPr/>
        </p:nvSpPr>
        <p:spPr>
          <a:xfrm>
            <a:off x="731520" y="777240"/>
            <a:ext cx="10515600" cy="731520"/>
          </a:xfrm>
          <a:prstGeom prst="rect">
            <a:avLst/>
          </a:prstGeom>
          <a:noFill/>
        </p:spPr>
        <p:txBody>
          <a:bodyPr wrap="square">
            <a:spAutoFit/>
          </a:bodyPr>
          <a:lstStyle/>
          <a:p>
            <a:pPr>
              <a:defRPr sz="2400" b="1">
                <a:solidFill>
                  <a:srgbClr val="F8FAFC"/>
                </a:solidFill>
                <a:latin typeface="Arial"/>
              </a:defRPr>
            </a:pPr>
            <a:r>
              <a:t>Geospatial Triage &amp; Leaflet OpenStreetMap Engine</a:t>
            </a:r>
          </a:p>
        </p:txBody>
      </p:sp>
      <p:sp>
        <p:nvSpPr>
          <p:cNvPr id="5" name="Rectangle 4"/>
          <p:cNvSpPr/>
          <p:nvPr/>
        </p:nvSpPr>
        <p:spPr>
          <a:xfrm>
            <a:off x="731520" y="155448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4389120"/>
          </a:xfrm>
          <a:prstGeom prst="roundRect">
            <a:avLst/>
          </a:prstGeom>
          <a:solidFill>
            <a:srgbClr val="111A2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57400"/>
            <a:ext cx="4663440" cy="3931920"/>
          </a:xfrm>
          <a:prstGeom prst="rect">
            <a:avLst/>
          </a:prstGeom>
          <a:noFill/>
        </p:spPr>
        <p:txBody>
          <a:bodyPr wrap="square">
            <a:spAutoFit/>
          </a:bodyPr>
          <a:lstStyle/>
          <a:p>
            <a:pPr>
              <a:defRPr sz="1600" b="1">
                <a:solidFill>
                  <a:srgbClr val="F8FAFC"/>
                </a:solidFill>
                <a:latin typeface="Arial"/>
              </a:defRPr>
            </a:pPr>
            <a:r>
              <a:t>Location Capture Mechanics</a:t>
            </a:r>
          </a:p>
          <a:p>
            <a:pPr>
              <a:spcAft>
                <a:spcPts val="800"/>
              </a:spcAft>
              <a:defRPr sz="1000" b="1">
                <a:solidFill>
                  <a:srgbClr val="38BDF8"/>
                </a:solidFill>
              </a:defRPr>
            </a:pPr>
            <a:r>
              <a:t>[Spatial Acquisition]</a:t>
            </a:r>
          </a:p>
          <a:p>
            <a:pPr>
              <a:spcAft>
                <a:spcPts val="600"/>
              </a:spcAft>
              <a:defRPr sz="1200">
                <a:solidFill>
                  <a:srgbClr val="94A3B8"/>
                </a:solidFill>
                <a:latin typeface="Arial"/>
              </a:defRPr>
            </a:pPr>
            <a:r>
              <a:t>•  HTML5 Geolocation API: Requests user's real browser latitude and longitude.</a:t>
            </a:r>
          </a:p>
          <a:p>
            <a:pPr>
              <a:spcAft>
                <a:spcPts val="600"/>
              </a:spcAft>
              <a:defRPr sz="1200">
                <a:solidFill>
                  <a:srgbClr val="94A3B8"/>
                </a:solidFill>
                <a:latin typeface="Arial"/>
              </a:defRPr>
            </a:pPr>
            <a:r>
              <a:t>•  Graceful Coordinate Fallback: If permission is denied or running offline, seamlessly supplies demo test coordinates without throwing errors.</a:t>
            </a:r>
          </a:p>
          <a:p>
            <a:pPr>
              <a:spcAft>
                <a:spcPts val="600"/>
              </a:spcAft>
              <a:defRPr sz="1200">
                <a:solidFill>
                  <a:srgbClr val="94A3B8"/>
                </a:solidFill>
                <a:latin typeface="Arial"/>
              </a:defRPr>
            </a:pPr>
            <a:r>
              <a:t>•  Location Source Transparency: Every record explicitly labels whether location is 'Live Browser GPS' or 'Simulated Coordinates'.</a:t>
            </a:r>
          </a:p>
          <a:p>
            <a:pPr>
              <a:spcAft>
                <a:spcPts val="600"/>
              </a:spcAft>
              <a:defRPr sz="1200">
                <a:solidFill>
                  <a:srgbClr val="94A3B8"/>
                </a:solidFill>
                <a:latin typeface="Arial"/>
              </a:defRPr>
            </a:pPr>
            <a:r>
              <a:t>•  Reverse Geocoding Format: Lat/Lng displayed to 5 decimal places (~1.1m precision).</a:t>
            </a:r>
          </a:p>
        </p:txBody>
      </p:sp>
      <p:sp>
        <p:nvSpPr>
          <p:cNvPr id="8" name="Rounded Rectangle 7"/>
          <p:cNvSpPr/>
          <p:nvPr/>
        </p:nvSpPr>
        <p:spPr>
          <a:xfrm>
            <a:off x="6217920" y="1828800"/>
            <a:ext cx="5212080" cy="4389120"/>
          </a:xfrm>
          <a:prstGeom prst="roundRect">
            <a:avLst/>
          </a:prstGeom>
          <a:solidFill>
            <a:srgbClr val="111A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2057400"/>
            <a:ext cx="4754880" cy="3931920"/>
          </a:xfrm>
          <a:prstGeom prst="rect">
            <a:avLst/>
          </a:prstGeom>
          <a:noFill/>
        </p:spPr>
        <p:txBody>
          <a:bodyPr wrap="square">
            <a:spAutoFit/>
          </a:bodyPr>
          <a:lstStyle/>
          <a:p>
            <a:pPr>
              <a:defRPr sz="1600" b="1">
                <a:solidFill>
                  <a:srgbClr val="F8FAFC"/>
                </a:solidFill>
                <a:latin typeface="Arial"/>
              </a:defRPr>
            </a:pPr>
            <a:r>
              <a:t>Map Visualization &amp; Routing</a:t>
            </a:r>
          </a:p>
          <a:p>
            <a:pPr>
              <a:spcAft>
                <a:spcPts val="800"/>
              </a:spcAft>
              <a:defRPr sz="1000" b="1">
                <a:solidFill>
                  <a:srgbClr val="38BDF8"/>
                </a:solidFill>
              </a:defRPr>
            </a:pPr>
            <a:r>
              <a:t>[Dispatcher Map]</a:t>
            </a:r>
          </a:p>
          <a:p>
            <a:pPr>
              <a:spcAft>
                <a:spcPts val="600"/>
              </a:spcAft>
              <a:defRPr sz="1200">
                <a:solidFill>
                  <a:srgbClr val="94A3B8"/>
                </a:solidFill>
                <a:latin typeface="Arial"/>
              </a:defRPr>
            </a:pPr>
            <a:r>
              <a:t>•  CartoDB Voyager / OpenStreetMap: High-contrast, privacy-friendly map tiles.</a:t>
            </a:r>
          </a:p>
          <a:p>
            <a:pPr>
              <a:spcAft>
                <a:spcPts val="600"/>
              </a:spcAft>
              <a:defRPr sz="1200">
                <a:solidFill>
                  <a:srgbClr val="94A3B8"/>
                </a:solidFill>
                <a:latin typeface="Arial"/>
              </a:defRPr>
            </a:pPr>
            <a:r>
              <a:t>•  Dynamic Color-Coded Pins: Red for New, Amber for Acknowledged, Purple for Dispatching, Green for Resolved.</a:t>
            </a:r>
          </a:p>
          <a:p>
            <a:pPr>
              <a:spcAft>
                <a:spcPts val="600"/>
              </a:spcAft>
              <a:defRPr sz="1200">
                <a:solidFill>
                  <a:srgbClr val="94A3B8"/>
                </a:solidFill>
                <a:latin typeface="Arial"/>
              </a:defRPr>
            </a:pPr>
            <a:r>
              <a:t>•  Interactive Marker Popups: Shows Rider Name, Helmet ID, Timestamp, G-Force, and Contact Phone.</a:t>
            </a:r>
          </a:p>
          <a:p>
            <a:pPr>
              <a:spcAft>
                <a:spcPts val="600"/>
              </a:spcAft>
              <a:defRPr sz="1200">
                <a:solidFill>
                  <a:srgbClr val="94A3B8"/>
                </a:solidFill>
                <a:latin typeface="Arial"/>
              </a:defRPr>
            </a:pPr>
            <a:r>
              <a:t>•  External Google Maps Link: 1-click button opens 'https://maps.google.com?q=lat,lng' for turn-by-turn paramedic ambulance navigation.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a:spAutoFit/>
          </a:bodyPr>
          <a:lstStyle/>
          <a:p>
            <a:pPr>
              <a:defRPr sz="1100" b="1">
                <a:solidFill>
                  <a:srgbClr val="38BDF8"/>
                </a:solidFill>
                <a:latin typeface="Arial"/>
              </a:defRPr>
            </a:pPr>
            <a:r>
              <a:t>SMART HELMET SAFETY SYSTEM — SOFTWARE VERSION</a:t>
            </a:r>
          </a:p>
        </p:txBody>
      </p:sp>
      <p:sp>
        <p:nvSpPr>
          <p:cNvPr id="4" name="TextBox 3"/>
          <p:cNvSpPr txBox="1"/>
          <p:nvPr/>
        </p:nvSpPr>
        <p:spPr>
          <a:xfrm>
            <a:off x="731520" y="777240"/>
            <a:ext cx="10515600" cy="731520"/>
          </a:xfrm>
          <a:prstGeom prst="rect">
            <a:avLst/>
          </a:prstGeom>
          <a:noFill/>
        </p:spPr>
        <p:txBody>
          <a:bodyPr wrap="square">
            <a:spAutoFit/>
          </a:bodyPr>
          <a:lstStyle/>
          <a:p>
            <a:pPr>
              <a:defRPr sz="2400" b="1">
                <a:solidFill>
                  <a:srgbClr val="F8FAFC"/>
                </a:solidFill>
                <a:latin typeface="Arial"/>
              </a:defRPr>
            </a:pPr>
            <a:r>
              <a:t>Six Core Functional Modules</a:t>
            </a:r>
          </a:p>
        </p:txBody>
      </p:sp>
      <p:sp>
        <p:nvSpPr>
          <p:cNvPr id="5" name="Rectangle 4"/>
          <p:cNvSpPr/>
          <p:nvPr/>
        </p:nvSpPr>
        <p:spPr>
          <a:xfrm>
            <a:off x="731520" y="155448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3291840" cy="2103120"/>
          </a:xfrm>
          <a:prstGeom prst="roundRect">
            <a:avLst/>
          </a:prstGeom>
          <a:solidFill>
            <a:srgbClr val="111A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57400"/>
            <a:ext cx="2834640" cy="1645920"/>
          </a:xfrm>
          <a:prstGeom prst="rect">
            <a:avLst/>
          </a:prstGeom>
          <a:noFill/>
        </p:spPr>
        <p:txBody>
          <a:bodyPr wrap="square">
            <a:spAutoFit/>
          </a:bodyPr>
          <a:lstStyle/>
          <a:p>
            <a:pPr>
              <a:defRPr sz="1600" b="1">
                <a:solidFill>
                  <a:srgbClr val="F8FAFC"/>
                </a:solidFill>
                <a:latin typeface="Arial"/>
              </a:defRPr>
            </a:pPr>
            <a:r>
              <a:t>1. Auth &amp; Session</a:t>
            </a:r>
          </a:p>
          <a:p>
            <a:pPr>
              <a:spcAft>
                <a:spcPts val="800"/>
              </a:spcAft>
              <a:defRPr sz="1000" b="1">
                <a:solidFill>
                  <a:srgbClr val="38BDF8"/>
                </a:solidFill>
              </a:defRPr>
            </a:pPr>
            <a:r>
              <a:t>[Module 1]</a:t>
            </a:r>
          </a:p>
          <a:p>
            <a:pPr>
              <a:spcAft>
                <a:spcPts val="600"/>
              </a:spcAft>
              <a:defRPr sz="1200">
                <a:solidFill>
                  <a:srgbClr val="94A3B8"/>
                </a:solidFill>
                <a:latin typeface="Arial"/>
              </a:defRPr>
            </a:pPr>
            <a:r>
              <a:t>•  1-Click Demo Login as Officer or Rider.</a:t>
            </a:r>
          </a:p>
          <a:p>
            <a:pPr>
              <a:spcAft>
                <a:spcPts val="600"/>
              </a:spcAft>
              <a:defRPr sz="1200">
                <a:solidFill>
                  <a:srgbClr val="94A3B8"/>
                </a:solidFill>
                <a:latin typeface="Arial"/>
              </a:defRPr>
            </a:pPr>
            <a:r>
              <a:t>•  Registration with role selection.</a:t>
            </a:r>
          </a:p>
          <a:p>
            <a:pPr>
              <a:spcAft>
                <a:spcPts val="600"/>
              </a:spcAft>
              <a:defRPr sz="1200">
                <a:solidFill>
                  <a:srgbClr val="94A3B8"/>
                </a:solidFill>
                <a:latin typeface="Arial"/>
              </a:defRPr>
            </a:pPr>
            <a:r>
              <a:t>•  Session persistence in localStorage.</a:t>
            </a:r>
          </a:p>
        </p:txBody>
      </p:sp>
      <p:sp>
        <p:nvSpPr>
          <p:cNvPr id="8" name="Rounded Rectangle 7"/>
          <p:cNvSpPr/>
          <p:nvPr/>
        </p:nvSpPr>
        <p:spPr>
          <a:xfrm>
            <a:off x="4389120" y="1828800"/>
            <a:ext cx="3383280" cy="2103120"/>
          </a:xfrm>
          <a:prstGeom prst="roundRect">
            <a:avLst/>
          </a:prstGeom>
          <a:solidFill>
            <a:srgbClr val="111A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2057400"/>
            <a:ext cx="2926080" cy="1645920"/>
          </a:xfrm>
          <a:prstGeom prst="rect">
            <a:avLst/>
          </a:prstGeom>
          <a:noFill/>
        </p:spPr>
        <p:txBody>
          <a:bodyPr wrap="square">
            <a:spAutoFit/>
          </a:bodyPr>
          <a:lstStyle/>
          <a:p>
            <a:pPr>
              <a:defRPr sz="1600" b="1">
                <a:solidFill>
                  <a:srgbClr val="F8FAFC"/>
                </a:solidFill>
                <a:latin typeface="Arial"/>
              </a:defRPr>
            </a:pPr>
            <a:r>
              <a:t>2. Command Dashboard</a:t>
            </a:r>
          </a:p>
          <a:p>
            <a:pPr>
              <a:spcAft>
                <a:spcPts val="800"/>
              </a:spcAft>
              <a:defRPr sz="1000" b="1">
                <a:solidFill>
                  <a:srgbClr val="38BDF8"/>
                </a:solidFill>
              </a:defRPr>
            </a:pPr>
            <a:r>
              <a:t>[Module 2]</a:t>
            </a:r>
          </a:p>
          <a:p>
            <a:pPr>
              <a:spcAft>
                <a:spcPts val="600"/>
              </a:spcAft>
              <a:defRPr sz="1200">
                <a:solidFill>
                  <a:srgbClr val="94A3B8"/>
                </a:solidFill>
                <a:latin typeface="Arial"/>
              </a:defRPr>
            </a:pPr>
            <a:r>
              <a:t>•  5 KPI counters (Riders, Crashes, Alerts, Resolved, Helmets).</a:t>
            </a:r>
          </a:p>
          <a:p>
            <a:pPr>
              <a:spcAft>
                <a:spcPts val="600"/>
              </a:spcAft>
              <a:defRPr sz="1200">
                <a:solidFill>
                  <a:srgbClr val="94A3B8"/>
                </a:solidFill>
                <a:latin typeface="Arial"/>
              </a:defRPr>
            </a:pPr>
            <a:r>
              <a:t>•  Prominent radar-pulsing SOS panic button.</a:t>
            </a:r>
          </a:p>
          <a:p>
            <a:pPr>
              <a:spcAft>
                <a:spcPts val="600"/>
              </a:spcAft>
              <a:defRPr sz="1200">
                <a:solidFill>
                  <a:srgbClr val="94A3B8"/>
                </a:solidFill>
                <a:latin typeface="Arial"/>
              </a:defRPr>
            </a:pPr>
            <a:r>
              <a:t>•  Live audit trail and incident table.</a:t>
            </a:r>
          </a:p>
        </p:txBody>
      </p:sp>
      <p:sp>
        <p:nvSpPr>
          <p:cNvPr id="10" name="Rounded Rectangle 9"/>
          <p:cNvSpPr/>
          <p:nvPr/>
        </p:nvSpPr>
        <p:spPr>
          <a:xfrm>
            <a:off x="8138160" y="1828800"/>
            <a:ext cx="3291840" cy="2103120"/>
          </a:xfrm>
          <a:prstGeom prst="roundRect">
            <a:avLst/>
          </a:prstGeom>
          <a:solidFill>
            <a:srgbClr val="111A2E"/>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2057400"/>
            <a:ext cx="2834640" cy="1645920"/>
          </a:xfrm>
          <a:prstGeom prst="rect">
            <a:avLst/>
          </a:prstGeom>
          <a:noFill/>
        </p:spPr>
        <p:txBody>
          <a:bodyPr wrap="square">
            <a:spAutoFit/>
          </a:bodyPr>
          <a:lstStyle/>
          <a:p>
            <a:pPr>
              <a:defRPr sz="1600" b="1">
                <a:solidFill>
                  <a:srgbClr val="F8FAFC"/>
                </a:solidFill>
                <a:latin typeface="Arial"/>
              </a:defRPr>
            </a:pPr>
            <a:r>
              <a:t>3. Telemetry Simulator</a:t>
            </a:r>
          </a:p>
          <a:p>
            <a:pPr>
              <a:spcAft>
                <a:spcPts val="800"/>
              </a:spcAft>
              <a:defRPr sz="1000" b="1">
                <a:solidFill>
                  <a:srgbClr val="38BDF8"/>
                </a:solidFill>
              </a:defRPr>
            </a:pPr>
            <a:r>
              <a:t>[Module 3]</a:t>
            </a:r>
          </a:p>
          <a:p>
            <a:pPr>
              <a:spcAft>
                <a:spcPts val="600"/>
              </a:spcAft>
              <a:defRPr sz="1200">
                <a:solidFill>
                  <a:srgbClr val="94A3B8"/>
                </a:solidFill>
                <a:latin typeface="Arial"/>
              </a:defRPr>
            </a:pPr>
            <a:r>
              <a:t>•  Start/Stop interval stream (1.5s).</a:t>
            </a:r>
          </a:p>
          <a:p>
            <a:pPr>
              <a:spcAft>
                <a:spcPts val="600"/>
              </a:spcAft>
              <a:defRPr sz="1200">
                <a:solidFill>
                  <a:srgbClr val="94A3B8"/>
                </a:solidFill>
                <a:latin typeface="Arial"/>
              </a:defRPr>
            </a:pPr>
            <a:r>
              <a:t>•  X, Y, Z animated acceleration bars.</a:t>
            </a:r>
          </a:p>
          <a:p>
            <a:pPr>
              <a:spcAft>
                <a:spcPts val="600"/>
              </a:spcAft>
              <a:defRPr sz="1200">
                <a:solidFill>
                  <a:srgbClr val="94A3B8"/>
                </a:solidFill>
                <a:latin typeface="Arial"/>
              </a:defRPr>
            </a:pPr>
            <a:r>
              <a:t>•  Simulate Accident button with 6G spike.</a:t>
            </a:r>
          </a:p>
        </p:txBody>
      </p:sp>
      <p:sp>
        <p:nvSpPr>
          <p:cNvPr id="12" name="Rounded Rectangle 11"/>
          <p:cNvSpPr/>
          <p:nvPr/>
        </p:nvSpPr>
        <p:spPr>
          <a:xfrm>
            <a:off x="731520" y="4206240"/>
            <a:ext cx="3291840" cy="2103120"/>
          </a:xfrm>
          <a:prstGeom prst="roundRect">
            <a:avLst/>
          </a:prstGeom>
          <a:solidFill>
            <a:srgbClr val="111A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434840"/>
            <a:ext cx="2834640" cy="1645920"/>
          </a:xfrm>
          <a:prstGeom prst="rect">
            <a:avLst/>
          </a:prstGeom>
          <a:noFill/>
        </p:spPr>
        <p:txBody>
          <a:bodyPr wrap="square">
            <a:spAutoFit/>
          </a:bodyPr>
          <a:lstStyle/>
          <a:p>
            <a:pPr>
              <a:defRPr sz="1600" b="1">
                <a:solidFill>
                  <a:srgbClr val="F8FAFC"/>
                </a:solidFill>
                <a:latin typeface="Arial"/>
              </a:defRPr>
            </a:pPr>
            <a:r>
              <a:t>4. Rider Profiles</a:t>
            </a:r>
          </a:p>
          <a:p>
            <a:pPr>
              <a:spcAft>
                <a:spcPts val="800"/>
              </a:spcAft>
              <a:defRPr sz="1000" b="1">
                <a:solidFill>
                  <a:srgbClr val="38BDF8"/>
                </a:solidFill>
              </a:defRPr>
            </a:pPr>
            <a:r>
              <a:t>[Module 4]</a:t>
            </a:r>
          </a:p>
          <a:p>
            <a:pPr>
              <a:spcAft>
                <a:spcPts val="600"/>
              </a:spcAft>
              <a:defRPr sz="1200">
                <a:solidFill>
                  <a:srgbClr val="94A3B8"/>
                </a:solidFill>
                <a:latin typeface="Arial"/>
              </a:defRPr>
            </a:pPr>
            <a:r>
              <a:t>•  Full CRUD: Name, Phone, Helmet ID, Blood Group.</a:t>
            </a:r>
          </a:p>
          <a:p>
            <a:pPr>
              <a:spcAft>
                <a:spcPts val="600"/>
              </a:spcAft>
              <a:defRPr sz="1200">
                <a:solidFill>
                  <a:srgbClr val="94A3B8"/>
                </a:solidFill>
                <a:latin typeface="Arial"/>
              </a:defRPr>
            </a:pPr>
            <a:r>
              <a:t>•  Medical allergy notes.</a:t>
            </a:r>
          </a:p>
          <a:p>
            <a:pPr>
              <a:spcAft>
                <a:spcPts val="600"/>
              </a:spcAft>
              <a:defRPr sz="1200">
                <a:solidFill>
                  <a:srgbClr val="94A3B8"/>
                </a:solidFill>
                <a:latin typeface="Arial"/>
              </a:defRPr>
            </a:pPr>
            <a:r>
              <a:t>•  Real-time search and blood group filter.</a:t>
            </a:r>
          </a:p>
        </p:txBody>
      </p:sp>
      <p:sp>
        <p:nvSpPr>
          <p:cNvPr id="14" name="Rounded Rectangle 13"/>
          <p:cNvSpPr/>
          <p:nvPr/>
        </p:nvSpPr>
        <p:spPr>
          <a:xfrm>
            <a:off x="4389120" y="4206240"/>
            <a:ext cx="3383280" cy="2103120"/>
          </a:xfrm>
          <a:prstGeom prst="roundRect">
            <a:avLst/>
          </a:prstGeom>
          <a:solidFill>
            <a:srgbClr val="111A2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4434840"/>
            <a:ext cx="2926080" cy="1645920"/>
          </a:xfrm>
          <a:prstGeom prst="rect">
            <a:avLst/>
          </a:prstGeom>
          <a:noFill/>
        </p:spPr>
        <p:txBody>
          <a:bodyPr wrap="square">
            <a:spAutoFit/>
          </a:bodyPr>
          <a:lstStyle/>
          <a:p>
            <a:pPr>
              <a:defRPr sz="1600" b="1">
                <a:solidFill>
                  <a:srgbClr val="F8FAFC"/>
                </a:solidFill>
                <a:latin typeface="Arial"/>
              </a:defRPr>
            </a:pPr>
            <a:r>
              <a:t>5. Incident History</a:t>
            </a:r>
          </a:p>
          <a:p>
            <a:pPr>
              <a:spcAft>
                <a:spcPts val="800"/>
              </a:spcAft>
              <a:defRPr sz="1000" b="1">
                <a:solidFill>
                  <a:srgbClr val="38BDF8"/>
                </a:solidFill>
              </a:defRPr>
            </a:pPr>
            <a:r>
              <a:t>[Module 5]</a:t>
            </a:r>
          </a:p>
          <a:p>
            <a:pPr>
              <a:spcAft>
                <a:spcPts val="600"/>
              </a:spcAft>
              <a:defRPr sz="1200">
                <a:solidFill>
                  <a:srgbClr val="94A3B8"/>
                </a:solidFill>
                <a:latin typeface="Arial"/>
              </a:defRPr>
            </a:pPr>
            <a:r>
              <a:t>•  Multi-filter by Date, Severity, and Status.</a:t>
            </a:r>
          </a:p>
          <a:p>
            <a:pPr>
              <a:spcAft>
                <a:spcPts val="600"/>
              </a:spcAft>
              <a:defRPr sz="1200">
                <a:solidFill>
                  <a:srgbClr val="94A3B8"/>
                </a:solidFill>
                <a:latin typeface="Arial"/>
              </a:defRPr>
            </a:pPr>
            <a:r>
              <a:t>•  Triage modal with embedded Leaflet map.</a:t>
            </a:r>
          </a:p>
          <a:p>
            <a:pPr>
              <a:spcAft>
                <a:spcPts val="600"/>
              </a:spcAft>
              <a:defRPr sz="1200">
                <a:solidFill>
                  <a:srgbClr val="94A3B8"/>
                </a:solidFill>
                <a:latin typeface="Arial"/>
              </a:defRPr>
            </a:pPr>
            <a:r>
              <a:t>•  CSV export of incident records.</a:t>
            </a:r>
          </a:p>
        </p:txBody>
      </p:sp>
      <p:sp>
        <p:nvSpPr>
          <p:cNvPr id="16" name="Rounded Rectangle 15"/>
          <p:cNvSpPr/>
          <p:nvPr/>
        </p:nvSpPr>
        <p:spPr>
          <a:xfrm>
            <a:off x="8138160" y="4206240"/>
            <a:ext cx="3291840" cy="2103120"/>
          </a:xfrm>
          <a:prstGeom prst="roundRect">
            <a:avLst/>
          </a:prstGeom>
          <a:solidFill>
            <a:srgbClr val="111A2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4434840"/>
            <a:ext cx="2834640" cy="1645920"/>
          </a:xfrm>
          <a:prstGeom prst="rect">
            <a:avLst/>
          </a:prstGeom>
          <a:noFill/>
        </p:spPr>
        <p:txBody>
          <a:bodyPr wrap="square">
            <a:spAutoFit/>
          </a:bodyPr>
          <a:lstStyle/>
          <a:p>
            <a:pPr>
              <a:defRPr sz="1600" b="1">
                <a:solidFill>
                  <a:srgbClr val="F8FAFC"/>
                </a:solidFill>
                <a:latin typeface="Arial"/>
              </a:defRPr>
            </a:pPr>
            <a:r>
              <a:t>6. Reports &amp; Analytics</a:t>
            </a:r>
          </a:p>
          <a:p>
            <a:pPr>
              <a:spcAft>
                <a:spcPts val="800"/>
              </a:spcAft>
              <a:defRPr sz="1000" b="1">
                <a:solidFill>
                  <a:srgbClr val="38BDF8"/>
                </a:solidFill>
              </a:defRPr>
            </a:pPr>
            <a:r>
              <a:t>[Module 6]</a:t>
            </a:r>
          </a:p>
          <a:p>
            <a:pPr>
              <a:spcAft>
                <a:spcPts val="600"/>
              </a:spcAft>
              <a:defRPr sz="1200">
                <a:solidFill>
                  <a:srgbClr val="94A3B8"/>
                </a:solidFill>
                <a:latin typeface="Arial"/>
              </a:defRPr>
            </a:pPr>
            <a:r>
              <a:t>•  Chart.js Incident Trend Line Chart.</a:t>
            </a:r>
          </a:p>
          <a:p>
            <a:pPr>
              <a:spcAft>
                <a:spcPts val="600"/>
              </a:spcAft>
              <a:defRPr sz="1200">
                <a:solidFill>
                  <a:srgbClr val="94A3B8"/>
                </a:solidFill>
                <a:latin typeface="Arial"/>
              </a:defRPr>
            </a:pPr>
            <a:r>
              <a:t>•  Severity Proportion Doughnut Chart.</a:t>
            </a:r>
          </a:p>
          <a:p>
            <a:pPr>
              <a:spcAft>
                <a:spcPts val="600"/>
              </a:spcAft>
              <a:defRPr sz="1200">
                <a:solidFill>
                  <a:srgbClr val="94A3B8"/>
                </a:solidFill>
                <a:latin typeface="Arial"/>
              </a:defRPr>
            </a:pPr>
            <a:r>
              <a:t>•  Rider-wise Incident Audit Table.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a:spAutoFit/>
          </a:bodyPr>
          <a:lstStyle/>
          <a:p>
            <a:pPr>
              <a:defRPr sz="1100" b="1">
                <a:solidFill>
                  <a:srgbClr val="38BDF8"/>
                </a:solidFill>
                <a:latin typeface="Arial"/>
              </a:defRPr>
            </a:pPr>
            <a:r>
              <a:t>SMART HELMET SAFETY SYSTEM — SOFTWARE VERSION</a:t>
            </a:r>
          </a:p>
        </p:txBody>
      </p:sp>
      <p:sp>
        <p:nvSpPr>
          <p:cNvPr id="4" name="TextBox 3"/>
          <p:cNvSpPr txBox="1"/>
          <p:nvPr/>
        </p:nvSpPr>
        <p:spPr>
          <a:xfrm>
            <a:off x="731520" y="777240"/>
            <a:ext cx="10515600" cy="731520"/>
          </a:xfrm>
          <a:prstGeom prst="rect">
            <a:avLst/>
          </a:prstGeom>
          <a:noFill/>
        </p:spPr>
        <p:txBody>
          <a:bodyPr wrap="square">
            <a:spAutoFit/>
          </a:bodyPr>
          <a:lstStyle/>
          <a:p>
            <a:pPr>
              <a:defRPr sz="2400" b="1">
                <a:solidFill>
                  <a:srgbClr val="F8FAFC"/>
                </a:solidFill>
                <a:latin typeface="Arial"/>
              </a:defRPr>
            </a:pPr>
            <a:r>
              <a:t>Emergency Contact Management &amp; Communication Broker</a:t>
            </a:r>
          </a:p>
        </p:txBody>
      </p:sp>
      <p:sp>
        <p:nvSpPr>
          <p:cNvPr id="5" name="Rectangle 4"/>
          <p:cNvSpPr/>
          <p:nvPr/>
        </p:nvSpPr>
        <p:spPr>
          <a:xfrm>
            <a:off x="731520" y="155448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4389120"/>
          </a:xfrm>
          <a:prstGeom prst="roundRect">
            <a:avLst/>
          </a:prstGeom>
          <a:solidFill>
            <a:srgbClr val="111A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57400"/>
            <a:ext cx="4663440" cy="3931920"/>
          </a:xfrm>
          <a:prstGeom prst="rect">
            <a:avLst/>
          </a:prstGeom>
          <a:noFill/>
        </p:spPr>
        <p:txBody>
          <a:bodyPr wrap="square">
            <a:spAutoFit/>
          </a:bodyPr>
          <a:lstStyle/>
          <a:p>
            <a:pPr>
              <a:defRPr sz="1600" b="1">
                <a:solidFill>
                  <a:srgbClr val="F8FAFC"/>
                </a:solidFill>
                <a:latin typeface="Arial"/>
              </a:defRPr>
            </a:pPr>
            <a:r>
              <a:t>Contact Registry &amp; Hierarchy</a:t>
            </a:r>
          </a:p>
          <a:p>
            <a:pPr>
              <a:spcAft>
                <a:spcPts val="800"/>
              </a:spcAft>
              <a:defRPr sz="1000" b="1">
                <a:solidFill>
                  <a:srgbClr val="38BDF8"/>
                </a:solidFill>
              </a:defRPr>
            </a:pPr>
            <a:r>
              <a:t>[Profile Management]</a:t>
            </a:r>
          </a:p>
          <a:p>
            <a:pPr>
              <a:spcAft>
                <a:spcPts val="600"/>
              </a:spcAft>
              <a:defRPr sz="1200">
                <a:solidFill>
                  <a:srgbClr val="94A3B8"/>
                </a:solidFill>
                <a:latin typeface="Arial"/>
              </a:defRPr>
            </a:pPr>
            <a:r>
              <a:t>•  Multi-Contact Management: Family, physician, and municipal paramedic dispatchers.</a:t>
            </a:r>
          </a:p>
          <a:p>
            <a:pPr>
              <a:spcAft>
                <a:spcPts val="600"/>
              </a:spcAft>
              <a:defRPr sz="1200">
                <a:solidFill>
                  <a:srgbClr val="94A3B8"/>
                </a:solidFill>
                <a:latin typeface="Arial"/>
              </a:defRPr>
            </a:pPr>
            <a:r>
              <a:t>•  Designated Primary Contact: Automatic binding of primary responder to new SOS alerts.</a:t>
            </a:r>
          </a:p>
          <a:p>
            <a:pPr>
              <a:spcAft>
                <a:spcPts val="600"/>
              </a:spcAft>
              <a:defRPr sz="1200">
                <a:solidFill>
                  <a:srgbClr val="94A3B8"/>
                </a:solidFill>
                <a:latin typeface="Arial"/>
              </a:defRPr>
            </a:pPr>
            <a:r>
              <a:t>•  Blood Group &amp; Medical Dossier: Displays critical medical information (allergies, asthma) to dispatchers.</a:t>
            </a:r>
          </a:p>
          <a:p>
            <a:pPr>
              <a:spcAft>
                <a:spcPts val="600"/>
              </a:spcAft>
              <a:defRPr sz="1200">
                <a:solidFill>
                  <a:srgbClr val="94A3B8"/>
                </a:solidFill>
                <a:latin typeface="Arial"/>
              </a:defRPr>
            </a:pPr>
            <a:r>
              <a:t>•  Full CRUD Operations: Add, edit, remove, and toggle primary contacts.</a:t>
            </a:r>
          </a:p>
        </p:txBody>
      </p:sp>
      <p:sp>
        <p:nvSpPr>
          <p:cNvPr id="8" name="Rounded Rectangle 7"/>
          <p:cNvSpPr/>
          <p:nvPr/>
        </p:nvSpPr>
        <p:spPr>
          <a:xfrm>
            <a:off x="6217920" y="1828800"/>
            <a:ext cx="5212080" cy="4389120"/>
          </a:xfrm>
          <a:prstGeom prst="roundRect">
            <a:avLst/>
          </a:prstGeom>
          <a:solidFill>
            <a:srgbClr val="111A2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2057400"/>
            <a:ext cx="4754880" cy="3931920"/>
          </a:xfrm>
          <a:prstGeom prst="rect">
            <a:avLst/>
          </a:prstGeom>
          <a:noFill/>
        </p:spPr>
        <p:txBody>
          <a:bodyPr wrap="square">
            <a:spAutoFit/>
          </a:bodyPr>
          <a:lstStyle/>
          <a:p>
            <a:pPr>
              <a:defRPr sz="1600" b="1">
                <a:solidFill>
                  <a:srgbClr val="F8FAFC"/>
                </a:solidFill>
                <a:latin typeface="Arial"/>
              </a:defRPr>
            </a:pPr>
            <a:r>
              <a:t>Communication Protocols &amp; Disclaimers</a:t>
            </a:r>
          </a:p>
          <a:p>
            <a:pPr>
              <a:spcAft>
                <a:spcPts val="800"/>
              </a:spcAft>
              <a:defRPr sz="1000" b="1">
                <a:solidFill>
                  <a:srgbClr val="38BDF8"/>
                </a:solidFill>
              </a:defRPr>
            </a:pPr>
            <a:r>
              <a:t>[Dispatch Protocols]</a:t>
            </a:r>
          </a:p>
          <a:p>
            <a:pPr>
              <a:spcAft>
                <a:spcPts val="600"/>
              </a:spcAft>
              <a:defRPr sz="1200">
                <a:solidFill>
                  <a:srgbClr val="94A3B8"/>
                </a:solidFill>
                <a:latin typeface="Arial"/>
              </a:defRPr>
            </a:pPr>
            <a:r>
              <a:t>•  Click-to-Call Link: Protocol 'tel:+15552345678' triggers immediate telephony dialing.</a:t>
            </a:r>
          </a:p>
          <a:p>
            <a:pPr>
              <a:spcAft>
                <a:spcPts val="600"/>
              </a:spcAft>
              <a:defRPr sz="1200">
                <a:solidFill>
                  <a:srgbClr val="94A3B8"/>
                </a:solidFill>
                <a:latin typeface="Arial"/>
              </a:defRPr>
            </a:pPr>
            <a:r>
              <a:t>•  Pre-Filled Emergency SMS: Protocol 'sms:+1555...?body=...' pre-fills distress text with incident details.</a:t>
            </a:r>
          </a:p>
          <a:p>
            <a:pPr>
              <a:spcAft>
                <a:spcPts val="600"/>
              </a:spcAft>
              <a:defRPr sz="1200">
                <a:solidFill>
                  <a:srgbClr val="94A3B8"/>
                </a:solidFill>
                <a:latin typeface="Arial"/>
              </a:defRPr>
            </a:pPr>
            <a:r>
              <a:t>•  Ethical Browser Sandbox Disclosure: Clearly discloses that browser security prevents silent automatic SMS sending without user tap.</a:t>
            </a:r>
          </a:p>
          <a:p>
            <a:pPr>
              <a:spcAft>
                <a:spcPts val="600"/>
              </a:spcAft>
              <a:defRPr sz="1200">
                <a:solidFill>
                  <a:srgbClr val="94A3B8"/>
                </a:solidFill>
                <a:latin typeface="Arial"/>
              </a:defRPr>
            </a:pPr>
            <a:r>
              <a:t>•  Twilio / Cloud Gateway Ready: Documented webhook architecture for automated background SMS in enterprise deployments.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a:spAutoFit/>
          </a:bodyPr>
          <a:lstStyle/>
          <a:p>
            <a:pPr>
              <a:defRPr sz="1100" b="1">
                <a:solidFill>
                  <a:srgbClr val="38BDF8"/>
                </a:solidFill>
                <a:latin typeface="Arial"/>
              </a:defRPr>
            </a:pPr>
            <a:r>
              <a:t>SMART HELMET SAFETY SYSTEM — SOFTWARE VERSION</a:t>
            </a:r>
          </a:p>
        </p:txBody>
      </p:sp>
      <p:sp>
        <p:nvSpPr>
          <p:cNvPr id="4" name="TextBox 3"/>
          <p:cNvSpPr txBox="1"/>
          <p:nvPr/>
        </p:nvSpPr>
        <p:spPr>
          <a:xfrm>
            <a:off x="731520" y="777240"/>
            <a:ext cx="10515600" cy="731520"/>
          </a:xfrm>
          <a:prstGeom prst="rect">
            <a:avLst/>
          </a:prstGeom>
          <a:noFill/>
        </p:spPr>
        <p:txBody>
          <a:bodyPr wrap="square">
            <a:spAutoFit/>
          </a:bodyPr>
          <a:lstStyle/>
          <a:p>
            <a:pPr>
              <a:defRPr sz="2400" b="1">
                <a:solidFill>
                  <a:srgbClr val="F8FAFC"/>
                </a:solidFill>
                <a:latin typeface="Arial"/>
              </a:defRPr>
            </a:pPr>
            <a:r>
              <a:t>Safety Intelligence &amp; Analytics Engine</a:t>
            </a:r>
          </a:p>
        </p:txBody>
      </p:sp>
      <p:sp>
        <p:nvSpPr>
          <p:cNvPr id="5" name="Rectangle 4"/>
          <p:cNvSpPr/>
          <p:nvPr/>
        </p:nvSpPr>
        <p:spPr>
          <a:xfrm>
            <a:off x="731520" y="155448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3291840" cy="4389120"/>
          </a:xfrm>
          <a:prstGeom prst="roundRect">
            <a:avLst/>
          </a:prstGeom>
          <a:solidFill>
            <a:srgbClr val="111A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57400"/>
            <a:ext cx="2834640" cy="3931920"/>
          </a:xfrm>
          <a:prstGeom prst="rect">
            <a:avLst/>
          </a:prstGeom>
          <a:noFill/>
        </p:spPr>
        <p:txBody>
          <a:bodyPr wrap="square">
            <a:spAutoFit/>
          </a:bodyPr>
          <a:lstStyle/>
          <a:p>
            <a:pPr>
              <a:defRPr sz="1600" b="1">
                <a:solidFill>
                  <a:srgbClr val="F8FAFC"/>
                </a:solidFill>
                <a:latin typeface="Arial"/>
              </a:defRPr>
            </a:pPr>
            <a:r>
              <a:t>Dynamic Chart.js Visuals</a:t>
            </a:r>
          </a:p>
          <a:p>
            <a:pPr>
              <a:spcAft>
                <a:spcPts val="800"/>
              </a:spcAft>
              <a:defRPr sz="1000" b="1">
                <a:solidFill>
                  <a:srgbClr val="38BDF8"/>
                </a:solidFill>
              </a:defRPr>
            </a:pPr>
            <a:r>
              <a:t>[Data Visualizations]</a:t>
            </a:r>
          </a:p>
          <a:p>
            <a:pPr>
              <a:spcAft>
                <a:spcPts val="600"/>
              </a:spcAft>
              <a:defRPr sz="1200">
                <a:solidFill>
                  <a:srgbClr val="94A3B8"/>
                </a:solidFill>
                <a:latin typeface="Arial"/>
              </a:defRPr>
            </a:pPr>
            <a:r>
              <a:t>•  Incident Trend Line: Plots crash frequency over daily intervals.</a:t>
            </a:r>
          </a:p>
          <a:p>
            <a:pPr>
              <a:spcAft>
                <a:spcPts val="600"/>
              </a:spcAft>
              <a:defRPr sz="1200">
                <a:solidFill>
                  <a:srgbClr val="94A3B8"/>
                </a:solidFill>
                <a:latin typeface="Arial"/>
              </a:defRPr>
            </a:pPr>
            <a:r>
              <a:t>•  Severity Proportion: Doughnut chart displaying Critical vs. Moderate vs. Low impact ratios.</a:t>
            </a:r>
          </a:p>
          <a:p>
            <a:pPr>
              <a:spcAft>
                <a:spcPts val="600"/>
              </a:spcAft>
              <a:defRPr sz="1200">
                <a:solidFill>
                  <a:srgbClr val="94A3B8"/>
                </a:solidFill>
                <a:latin typeface="Arial"/>
              </a:defRPr>
            </a:pPr>
            <a:r>
              <a:t>•  Collision Type Bar Chart: Compares High-Impact Crashes, Falls/Skids, and SOS Panics.</a:t>
            </a:r>
          </a:p>
          <a:p>
            <a:pPr>
              <a:spcAft>
                <a:spcPts val="600"/>
              </a:spcAft>
              <a:defRPr sz="1200">
                <a:solidFill>
                  <a:srgbClr val="94A3B8"/>
                </a:solidFill>
                <a:latin typeface="Arial"/>
              </a:defRPr>
            </a:pPr>
            <a:r>
              <a:t>•  Zero Hardcoding: Every metric is calculated dynamically from stored database records.</a:t>
            </a:r>
          </a:p>
        </p:txBody>
      </p:sp>
      <p:sp>
        <p:nvSpPr>
          <p:cNvPr id="8" name="Rounded Rectangle 7"/>
          <p:cNvSpPr/>
          <p:nvPr/>
        </p:nvSpPr>
        <p:spPr>
          <a:xfrm>
            <a:off x="4389120" y="1828800"/>
            <a:ext cx="3383280" cy="4389120"/>
          </a:xfrm>
          <a:prstGeom prst="roundRect">
            <a:avLst/>
          </a:prstGeom>
          <a:solidFill>
            <a:srgbClr val="111A2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2057400"/>
            <a:ext cx="2926080" cy="3931920"/>
          </a:xfrm>
          <a:prstGeom prst="rect">
            <a:avLst/>
          </a:prstGeom>
          <a:noFill/>
        </p:spPr>
        <p:txBody>
          <a:bodyPr wrap="square">
            <a:spAutoFit/>
          </a:bodyPr>
          <a:lstStyle/>
          <a:p>
            <a:pPr>
              <a:defRPr sz="1600" b="1">
                <a:solidFill>
                  <a:srgbClr val="F8FAFC"/>
                </a:solidFill>
                <a:latin typeface="Arial"/>
              </a:defRPr>
            </a:pPr>
            <a:r>
              <a:t>Rider Safety Auditing</a:t>
            </a:r>
          </a:p>
          <a:p>
            <a:pPr>
              <a:spcAft>
                <a:spcPts val="800"/>
              </a:spcAft>
              <a:defRPr sz="1000" b="1">
                <a:solidFill>
                  <a:srgbClr val="38BDF8"/>
                </a:solidFill>
              </a:defRPr>
            </a:pPr>
            <a:r>
              <a:t>[Fleet Metrics]</a:t>
            </a:r>
          </a:p>
          <a:p>
            <a:pPr>
              <a:spcAft>
                <a:spcPts val="600"/>
              </a:spcAft>
              <a:defRPr sz="1200">
                <a:solidFill>
                  <a:srgbClr val="94A3B8"/>
                </a:solidFill>
                <a:latin typeface="Arial"/>
              </a:defRPr>
            </a:pPr>
            <a:r>
              <a:t>•  Per-Rider Risk Table: Tallies total incidents, critical impacts, and resolution counts.</a:t>
            </a:r>
          </a:p>
          <a:p>
            <a:pPr>
              <a:spcAft>
                <a:spcPts val="600"/>
              </a:spcAft>
              <a:defRPr sz="1200">
                <a:solidFill>
                  <a:srgbClr val="94A3B8"/>
                </a:solidFill>
                <a:latin typeface="Arial"/>
              </a:defRPr>
            </a:pPr>
            <a:r>
              <a:t>•  Helmet Health Tracking: Displays paired helmet model and battery status.</a:t>
            </a:r>
          </a:p>
          <a:p>
            <a:pPr>
              <a:spcAft>
                <a:spcPts val="600"/>
              </a:spcAft>
              <a:defRPr sz="1200">
                <a:solidFill>
                  <a:srgbClr val="94A3B8"/>
                </a:solidFill>
                <a:latin typeface="Arial"/>
              </a:defRPr>
            </a:pPr>
            <a:r>
              <a:t>•  Resolution Rate KPI: Computes emergency response closure percentage (e.g., 75% resolved).</a:t>
            </a:r>
          </a:p>
          <a:p>
            <a:pPr>
              <a:spcAft>
                <a:spcPts val="600"/>
              </a:spcAft>
              <a:defRPr sz="1200">
                <a:solidFill>
                  <a:srgbClr val="94A3B8"/>
                </a:solidFill>
                <a:latin typeface="Arial"/>
              </a:defRPr>
            </a:pPr>
            <a:r>
              <a:t>•  Time Range Filter: Slice data by Past 7 Days, 30 Days, 90 Days, or All Time.</a:t>
            </a:r>
          </a:p>
        </p:txBody>
      </p:sp>
      <p:sp>
        <p:nvSpPr>
          <p:cNvPr id="10" name="Rounded Rectangle 9"/>
          <p:cNvSpPr/>
          <p:nvPr/>
        </p:nvSpPr>
        <p:spPr>
          <a:xfrm>
            <a:off x="8138160" y="1828800"/>
            <a:ext cx="3291840" cy="4389120"/>
          </a:xfrm>
          <a:prstGeom prst="roundRect">
            <a:avLst/>
          </a:prstGeom>
          <a:solidFill>
            <a:srgbClr val="111A2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2057400"/>
            <a:ext cx="2834640" cy="3931920"/>
          </a:xfrm>
          <a:prstGeom prst="rect">
            <a:avLst/>
          </a:prstGeom>
          <a:noFill/>
        </p:spPr>
        <p:txBody>
          <a:bodyPr wrap="square">
            <a:spAutoFit/>
          </a:bodyPr>
          <a:lstStyle/>
          <a:p>
            <a:pPr>
              <a:defRPr sz="1600" b="1">
                <a:solidFill>
                  <a:srgbClr val="F8FAFC"/>
                </a:solidFill>
                <a:latin typeface="Arial"/>
              </a:defRPr>
            </a:pPr>
            <a:r>
              <a:t>Audit Compliance &amp; Export</a:t>
            </a:r>
          </a:p>
          <a:p>
            <a:pPr>
              <a:spcAft>
                <a:spcPts val="800"/>
              </a:spcAft>
              <a:defRPr sz="1000" b="1">
                <a:solidFill>
                  <a:srgbClr val="38BDF8"/>
                </a:solidFill>
              </a:defRPr>
            </a:pPr>
            <a:r>
              <a:t>[CSV &amp; Compliance]</a:t>
            </a:r>
          </a:p>
          <a:p>
            <a:pPr>
              <a:spcAft>
                <a:spcPts val="600"/>
              </a:spcAft>
              <a:defRPr sz="1200">
                <a:solidFill>
                  <a:srgbClr val="94A3B8"/>
                </a:solidFill>
                <a:latin typeface="Arial"/>
              </a:defRPr>
            </a:pPr>
            <a:r>
              <a:t>•  1-Click CSV Export: Downloads complete incident history formatted for spreadsheet analysis.</a:t>
            </a:r>
          </a:p>
          <a:p>
            <a:pPr>
              <a:spcAft>
                <a:spcPts val="600"/>
              </a:spcAft>
              <a:defRPr sz="1200">
                <a:solidFill>
                  <a:srgbClr val="94A3B8"/>
                </a:solidFill>
                <a:latin typeface="Arial"/>
              </a:defRPr>
            </a:pPr>
            <a:r>
              <a:t>•  Analytics Summary CSV: Exports key metrics and resolution rates.</a:t>
            </a:r>
          </a:p>
          <a:p>
            <a:pPr>
              <a:spcAft>
                <a:spcPts val="600"/>
              </a:spcAft>
              <a:defRPr sz="1200">
                <a:solidFill>
                  <a:srgbClr val="94A3B8"/>
                </a:solidFill>
                <a:latin typeface="Arial"/>
              </a:defRPr>
            </a:pPr>
            <a:r>
              <a:t>•  Audit Trail Log: Tracks every user registration, crash detection, and status change.</a:t>
            </a:r>
          </a:p>
          <a:p>
            <a:pPr>
              <a:spcAft>
                <a:spcPts val="600"/>
              </a:spcAft>
              <a:defRPr sz="1200">
                <a:solidFill>
                  <a:srgbClr val="94A3B8"/>
                </a:solidFill>
                <a:latin typeface="Arial"/>
              </a:defRPr>
            </a:pPr>
            <a:r>
              <a:t>•  Data Longevity: Retains up to 100 historical activity audit logs.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a:spAutoFit/>
          </a:bodyPr>
          <a:lstStyle/>
          <a:p>
            <a:pPr>
              <a:defRPr sz="1100" b="1">
                <a:solidFill>
                  <a:srgbClr val="38BDF8"/>
                </a:solidFill>
                <a:latin typeface="Arial"/>
              </a:defRPr>
            </a:pPr>
            <a:r>
              <a:t>SMART HELMET SAFETY SYSTEM — SOFTWARE VERSION</a:t>
            </a:r>
          </a:p>
        </p:txBody>
      </p:sp>
      <p:sp>
        <p:nvSpPr>
          <p:cNvPr id="4" name="TextBox 3"/>
          <p:cNvSpPr txBox="1"/>
          <p:nvPr/>
        </p:nvSpPr>
        <p:spPr>
          <a:xfrm>
            <a:off x="731520" y="777240"/>
            <a:ext cx="10515600" cy="731520"/>
          </a:xfrm>
          <a:prstGeom prst="rect">
            <a:avLst/>
          </a:prstGeom>
          <a:noFill/>
        </p:spPr>
        <p:txBody>
          <a:bodyPr wrap="square">
            <a:spAutoFit/>
          </a:bodyPr>
          <a:lstStyle/>
          <a:p>
            <a:pPr>
              <a:defRPr sz="2400" b="1">
                <a:solidFill>
                  <a:srgbClr val="F8FAFC"/>
                </a:solidFill>
                <a:latin typeface="Arial"/>
              </a:defRPr>
            </a:pPr>
            <a:r>
              <a:t>Data Architecture: LocalStorage vs. Cloud Firestore</a:t>
            </a:r>
          </a:p>
        </p:txBody>
      </p:sp>
      <p:sp>
        <p:nvSpPr>
          <p:cNvPr id="5" name="Rectangle 4"/>
          <p:cNvSpPr/>
          <p:nvPr/>
        </p:nvSpPr>
        <p:spPr>
          <a:xfrm>
            <a:off x="731520" y="155448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4389120"/>
          </a:xfrm>
          <a:prstGeom prst="roundRect">
            <a:avLst/>
          </a:prstGeom>
          <a:solidFill>
            <a:srgbClr val="111A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57400"/>
            <a:ext cx="4663440" cy="3931920"/>
          </a:xfrm>
          <a:prstGeom prst="rect">
            <a:avLst/>
          </a:prstGeom>
          <a:noFill/>
        </p:spPr>
        <p:txBody>
          <a:bodyPr wrap="square">
            <a:spAutoFit/>
          </a:bodyPr>
          <a:lstStyle/>
          <a:p>
            <a:pPr>
              <a:defRPr sz="1600" b="1">
                <a:solidFill>
                  <a:srgbClr val="F8FAFC"/>
                </a:solidFill>
                <a:latin typeface="Arial"/>
              </a:defRPr>
            </a:pPr>
            <a:r>
              <a:t>Local Demo Mode (Default)</a:t>
            </a:r>
          </a:p>
          <a:p>
            <a:pPr>
              <a:spcAft>
                <a:spcPts val="800"/>
              </a:spcAft>
              <a:defRPr sz="1000" b="1">
                <a:solidFill>
                  <a:srgbClr val="38BDF8"/>
                </a:solidFill>
              </a:defRPr>
            </a:pPr>
            <a:r>
              <a:t>[LocalStorage Engine]</a:t>
            </a:r>
          </a:p>
          <a:p>
            <a:pPr>
              <a:spcAft>
                <a:spcPts val="600"/>
              </a:spcAft>
              <a:defRPr sz="1200">
                <a:solidFill>
                  <a:srgbClr val="94A3B8"/>
                </a:solidFill>
                <a:latin typeface="Arial"/>
              </a:defRPr>
            </a:pPr>
            <a:r>
              <a:t>•  Zero Configuration: Runs instantly out of the box on any computer.</a:t>
            </a:r>
          </a:p>
          <a:p>
            <a:pPr>
              <a:spcAft>
                <a:spcPts val="600"/>
              </a:spcAft>
              <a:defRPr sz="1200">
                <a:solidFill>
                  <a:srgbClr val="94A3B8"/>
                </a:solidFill>
                <a:latin typeface="Arial"/>
              </a:defRPr>
            </a:pPr>
            <a:r>
              <a:t>•  HTML5 LocalStorage: Persists riders, helmets, incidents, contacts, and audit logs.</a:t>
            </a:r>
          </a:p>
          <a:p>
            <a:pPr>
              <a:spcAft>
                <a:spcPts val="600"/>
              </a:spcAft>
              <a:defRPr sz="1200">
                <a:solidFill>
                  <a:srgbClr val="94A3B8"/>
                </a:solidFill>
                <a:latin typeface="Arial"/>
              </a:defRPr>
            </a:pPr>
            <a:r>
              <a:t>•  Pre-Seeded Data: Includes realistic demo riders (Alex, Priya, Marcus) and sample incidents.</a:t>
            </a:r>
          </a:p>
          <a:p>
            <a:pPr>
              <a:spcAft>
                <a:spcPts val="600"/>
              </a:spcAft>
              <a:defRPr sz="1200">
                <a:solidFill>
                  <a:srgbClr val="94A3B8"/>
                </a:solidFill>
                <a:latin typeface="Arial"/>
              </a:defRPr>
            </a:pPr>
            <a:r>
              <a:t>•  Demo Management: 1-Click 'Reset Demo Data' restores clean default dataset; 'Clear All' wipes local storage.</a:t>
            </a:r>
          </a:p>
          <a:p>
            <a:pPr>
              <a:spcAft>
                <a:spcPts val="600"/>
              </a:spcAft>
              <a:defRPr sz="1200">
                <a:solidFill>
                  <a:srgbClr val="94A3B8"/>
                </a:solidFill>
                <a:latin typeface="Arial"/>
              </a:defRPr>
            </a:pPr>
            <a:r>
              <a:t>•  Completely Offline: Functions without active internet connection.</a:t>
            </a:r>
          </a:p>
        </p:txBody>
      </p:sp>
      <p:sp>
        <p:nvSpPr>
          <p:cNvPr id="8" name="Rounded Rectangle 7"/>
          <p:cNvSpPr/>
          <p:nvPr/>
        </p:nvSpPr>
        <p:spPr>
          <a:xfrm>
            <a:off x="6217920" y="1828800"/>
            <a:ext cx="5212080" cy="4389120"/>
          </a:xfrm>
          <a:prstGeom prst="roundRect">
            <a:avLst/>
          </a:prstGeom>
          <a:solidFill>
            <a:srgbClr val="111A2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2057400"/>
            <a:ext cx="4754880" cy="3931920"/>
          </a:xfrm>
          <a:prstGeom prst="rect">
            <a:avLst/>
          </a:prstGeom>
          <a:noFill/>
        </p:spPr>
        <p:txBody>
          <a:bodyPr wrap="square">
            <a:spAutoFit/>
          </a:bodyPr>
          <a:lstStyle/>
          <a:p>
            <a:pPr>
              <a:defRPr sz="1600" b="1">
                <a:solidFill>
                  <a:srgbClr val="F8FAFC"/>
                </a:solidFill>
                <a:latin typeface="Arial"/>
              </a:defRPr>
            </a:pPr>
            <a:r>
              <a:t>Cloud Firestore &amp; Firebase Auth (Pluggable)</a:t>
            </a:r>
          </a:p>
          <a:p>
            <a:pPr>
              <a:spcAft>
                <a:spcPts val="800"/>
              </a:spcAft>
              <a:defRPr sz="1000" b="1">
                <a:solidFill>
                  <a:srgbClr val="38BDF8"/>
                </a:solidFill>
              </a:defRPr>
            </a:pPr>
            <a:r>
              <a:t>[Firebase Integration]</a:t>
            </a:r>
          </a:p>
          <a:p>
            <a:pPr>
              <a:spcAft>
                <a:spcPts val="600"/>
              </a:spcAft>
              <a:defRPr sz="1200">
                <a:solidFill>
                  <a:srgbClr val="94A3B8"/>
                </a:solidFill>
                <a:latin typeface="Arial"/>
              </a:defRPr>
            </a:pPr>
            <a:r>
              <a:t>•  Modular Data Access Layer: database.js abstracts all CRUD operations through unified interface.</a:t>
            </a:r>
          </a:p>
          <a:p>
            <a:pPr>
              <a:spcAft>
                <a:spcPts val="600"/>
              </a:spcAft>
              <a:defRPr sz="1200">
                <a:solidFill>
                  <a:srgbClr val="94A3B8"/>
                </a:solidFill>
                <a:latin typeface="Arial"/>
              </a:defRPr>
            </a:pPr>
            <a:r>
              <a:t>•  Ready Configuration Template: Provided in 'firebase-config.example.js'.</a:t>
            </a:r>
          </a:p>
          <a:p>
            <a:pPr>
              <a:spcAft>
                <a:spcPts val="600"/>
              </a:spcAft>
              <a:defRPr sz="1200">
                <a:solidFill>
                  <a:srgbClr val="94A3B8"/>
                </a:solidFill>
                <a:latin typeface="Arial"/>
              </a:defRPr>
            </a:pPr>
            <a:r>
              <a:t>•  Strict Security Rules: Enforces user-level authentication and role-based incident deletion.</a:t>
            </a:r>
          </a:p>
          <a:p>
            <a:pPr>
              <a:spcAft>
                <a:spcPts val="600"/>
              </a:spcAft>
              <a:defRPr sz="1200">
                <a:solidFill>
                  <a:srgbClr val="94A3B8"/>
                </a:solidFill>
                <a:latin typeface="Arial"/>
              </a:defRPr>
            </a:pPr>
            <a:r>
              <a:t>•  No Rewrite Required: Toggling FIREBASE_ENABLED connects Firestore without touching UI pages.</a:t>
            </a:r>
          </a:p>
          <a:p>
            <a:pPr>
              <a:spcAft>
                <a:spcPts val="600"/>
              </a:spcAft>
              <a:defRPr sz="1200">
                <a:solidFill>
                  <a:srgbClr val="94A3B8"/>
                </a:solidFill>
                <a:latin typeface="Arial"/>
              </a:defRPr>
            </a:pPr>
            <a:r>
              <a:t>•  Zero Credential Leakage: Private API keys are never hardcoded.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a:spAutoFit/>
          </a:bodyPr>
          <a:lstStyle/>
          <a:p>
            <a:pPr>
              <a:defRPr sz="1100" b="1">
                <a:solidFill>
                  <a:srgbClr val="38BDF8"/>
                </a:solidFill>
                <a:latin typeface="Arial"/>
              </a:defRPr>
            </a:pPr>
            <a:r>
              <a:t>SMART HELMET SAFETY SYSTEM — SOFTWARE VERSION</a:t>
            </a:r>
          </a:p>
        </p:txBody>
      </p:sp>
      <p:sp>
        <p:nvSpPr>
          <p:cNvPr id="4" name="TextBox 3"/>
          <p:cNvSpPr txBox="1"/>
          <p:nvPr/>
        </p:nvSpPr>
        <p:spPr>
          <a:xfrm>
            <a:off x="731520" y="777240"/>
            <a:ext cx="10515600" cy="731520"/>
          </a:xfrm>
          <a:prstGeom prst="rect">
            <a:avLst/>
          </a:prstGeom>
          <a:noFill/>
        </p:spPr>
        <p:txBody>
          <a:bodyPr wrap="square">
            <a:spAutoFit/>
          </a:bodyPr>
          <a:lstStyle/>
          <a:p>
            <a:pPr>
              <a:defRPr sz="2400" b="1">
                <a:solidFill>
                  <a:srgbClr val="F8FAFC"/>
                </a:solidFill>
                <a:latin typeface="Arial"/>
              </a:defRPr>
            </a:pPr>
            <a:r>
              <a:t>Comprehensive Testing &amp; Quality Assurance</a:t>
            </a:r>
          </a:p>
        </p:txBody>
      </p:sp>
      <p:sp>
        <p:nvSpPr>
          <p:cNvPr id="5" name="Rectangle 4"/>
          <p:cNvSpPr/>
          <p:nvPr/>
        </p:nvSpPr>
        <p:spPr>
          <a:xfrm>
            <a:off x="731520" y="155448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3291840" cy="4389120"/>
          </a:xfrm>
          <a:prstGeom prst="roundRect">
            <a:avLst/>
          </a:prstGeom>
          <a:solidFill>
            <a:srgbClr val="111A2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57400"/>
            <a:ext cx="2834640" cy="3931920"/>
          </a:xfrm>
          <a:prstGeom prst="rect">
            <a:avLst/>
          </a:prstGeom>
          <a:noFill/>
        </p:spPr>
        <p:txBody>
          <a:bodyPr wrap="square">
            <a:spAutoFit/>
          </a:bodyPr>
          <a:lstStyle/>
          <a:p>
            <a:pPr>
              <a:defRPr sz="1600" b="1">
                <a:solidFill>
                  <a:srgbClr val="F8FAFC"/>
                </a:solidFill>
                <a:latin typeface="Arial"/>
              </a:defRPr>
            </a:pPr>
            <a:r>
              <a:t>Functional Test Results</a:t>
            </a:r>
          </a:p>
          <a:p>
            <a:pPr>
              <a:spcAft>
                <a:spcPts val="800"/>
              </a:spcAft>
              <a:defRPr sz="1000" b="1">
                <a:solidFill>
                  <a:srgbClr val="38BDF8"/>
                </a:solidFill>
              </a:defRPr>
            </a:pPr>
            <a:r>
              <a:t>[Automated Checks: 100% Passed]</a:t>
            </a:r>
          </a:p>
          <a:p>
            <a:pPr>
              <a:spcAft>
                <a:spcPts val="600"/>
              </a:spcAft>
              <a:defRPr sz="1200">
                <a:solidFill>
                  <a:srgbClr val="94A3B8"/>
                </a:solidFill>
                <a:latin typeface="Arial"/>
              </a:defRPr>
            </a:pPr>
            <a:r>
              <a:t>•  Registration &amp; Login: Passed. Verified demo roles and email validation.</a:t>
            </a:r>
          </a:p>
          <a:p>
            <a:pPr>
              <a:spcAft>
                <a:spcPts val="600"/>
              </a:spcAft>
              <a:defRPr sz="1200">
                <a:solidFill>
                  <a:srgbClr val="94A3B8"/>
                </a:solidFill>
                <a:latin typeface="Arial"/>
              </a:defRPr>
            </a:pPr>
            <a:r>
              <a:t>•  SOS Confirmation Flow: Passed. Captured coordinates and dispatched alert.</a:t>
            </a:r>
          </a:p>
          <a:p>
            <a:pPr>
              <a:spcAft>
                <a:spcPts val="600"/>
              </a:spcAft>
              <a:defRPr sz="1200">
                <a:solidFill>
                  <a:srgbClr val="94A3B8"/>
                </a:solidFill>
                <a:latin typeface="Arial"/>
              </a:defRPr>
            </a:pPr>
            <a:r>
              <a:t>•  Sensor Telemetry Stream: Passed. 1.5s interval updates with clean timer shutdown.</a:t>
            </a:r>
          </a:p>
          <a:p>
            <a:pPr>
              <a:spcAft>
                <a:spcPts val="600"/>
              </a:spcAft>
              <a:defRPr sz="1200">
                <a:solidFill>
                  <a:srgbClr val="94A3B8"/>
                </a:solidFill>
                <a:latin typeface="Arial"/>
              </a:defRPr>
            </a:pPr>
            <a:r>
              <a:t>•  Simulated Accident Spike: Passed. Peak &gt;5.5G shockwave with audio alert tone.</a:t>
            </a:r>
          </a:p>
          <a:p>
            <a:pPr>
              <a:spcAft>
                <a:spcPts val="600"/>
              </a:spcAft>
              <a:defRPr sz="1200">
                <a:solidFill>
                  <a:srgbClr val="94A3B8"/>
                </a:solidFill>
                <a:latin typeface="Arial"/>
              </a:defRPr>
            </a:pPr>
            <a:r>
              <a:t>•  Rider Profile CRUD: Passed. Added Carlos Mendoza with HLM-9912.</a:t>
            </a:r>
          </a:p>
        </p:txBody>
      </p:sp>
      <p:sp>
        <p:nvSpPr>
          <p:cNvPr id="8" name="Rounded Rectangle 7"/>
          <p:cNvSpPr/>
          <p:nvPr/>
        </p:nvSpPr>
        <p:spPr>
          <a:xfrm>
            <a:off x="4389120" y="1828800"/>
            <a:ext cx="3383280" cy="4389120"/>
          </a:xfrm>
          <a:prstGeom prst="roundRect">
            <a:avLst/>
          </a:prstGeom>
          <a:solidFill>
            <a:srgbClr val="111A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2057400"/>
            <a:ext cx="2926080" cy="3931920"/>
          </a:xfrm>
          <a:prstGeom prst="rect">
            <a:avLst/>
          </a:prstGeom>
          <a:noFill/>
        </p:spPr>
        <p:txBody>
          <a:bodyPr wrap="square">
            <a:spAutoFit/>
          </a:bodyPr>
          <a:lstStyle/>
          <a:p>
            <a:pPr>
              <a:defRPr sz="1600" b="1">
                <a:solidFill>
                  <a:srgbClr val="F8FAFC"/>
                </a:solidFill>
                <a:latin typeface="Arial"/>
              </a:defRPr>
            </a:pPr>
            <a:r>
              <a:t>Robustness &amp; Edge Cases</a:t>
            </a:r>
          </a:p>
          <a:p>
            <a:pPr>
              <a:spcAft>
                <a:spcPts val="800"/>
              </a:spcAft>
              <a:defRPr sz="1000" b="1">
                <a:solidFill>
                  <a:srgbClr val="38BDF8"/>
                </a:solidFill>
              </a:defRPr>
            </a:pPr>
            <a:r>
              <a:t>[Edge Case Handling]</a:t>
            </a:r>
          </a:p>
          <a:p>
            <a:pPr>
              <a:spcAft>
                <a:spcPts val="600"/>
              </a:spcAft>
              <a:defRPr sz="1200">
                <a:solidFill>
                  <a:srgbClr val="94A3B8"/>
                </a:solidFill>
                <a:latin typeface="Arial"/>
              </a:defRPr>
            </a:pPr>
            <a:r>
              <a:t>•  Duplicate Click Prevention: State locks debounce multiple clicks on SOS and Simulate Accident.</a:t>
            </a:r>
          </a:p>
          <a:p>
            <a:pPr>
              <a:spcAft>
                <a:spcPts val="600"/>
              </a:spcAft>
              <a:defRPr sz="1200">
                <a:solidFill>
                  <a:srgbClr val="94A3B8"/>
                </a:solidFill>
                <a:latin typeface="Arial"/>
              </a:defRPr>
            </a:pPr>
            <a:r>
              <a:t>•  Timer Leak Prevention: Window 'beforeunload' listener clears all active interval timers.</a:t>
            </a:r>
          </a:p>
          <a:p>
            <a:pPr>
              <a:spcAft>
                <a:spcPts val="600"/>
              </a:spcAft>
              <a:defRPr sz="1200">
                <a:solidFill>
                  <a:srgbClr val="94A3B8"/>
                </a:solidFill>
                <a:latin typeface="Arial"/>
              </a:defRPr>
            </a:pPr>
            <a:r>
              <a:t>•  GPS Fallback Resilience: Safely uses fallback coordinates when browser permission is denied.</a:t>
            </a:r>
          </a:p>
          <a:p>
            <a:pPr>
              <a:spcAft>
                <a:spcPts val="600"/>
              </a:spcAft>
              <a:defRPr sz="1200">
                <a:solidFill>
                  <a:srgbClr val="94A3B8"/>
                </a:solidFill>
                <a:latin typeface="Arial"/>
              </a:defRPr>
            </a:pPr>
            <a:r>
              <a:t>•  Port Collision Handler: server.js detects occupied ports and auto-increments gracefully.</a:t>
            </a:r>
          </a:p>
        </p:txBody>
      </p:sp>
      <p:sp>
        <p:nvSpPr>
          <p:cNvPr id="10" name="Rounded Rectangle 9"/>
          <p:cNvSpPr/>
          <p:nvPr/>
        </p:nvSpPr>
        <p:spPr>
          <a:xfrm>
            <a:off x="8138160" y="1828800"/>
            <a:ext cx="3291840" cy="4389120"/>
          </a:xfrm>
          <a:prstGeom prst="roundRect">
            <a:avLst/>
          </a:prstGeom>
          <a:solidFill>
            <a:srgbClr val="111A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2057400"/>
            <a:ext cx="2834640" cy="3931920"/>
          </a:xfrm>
          <a:prstGeom prst="rect">
            <a:avLst/>
          </a:prstGeom>
          <a:noFill/>
        </p:spPr>
        <p:txBody>
          <a:bodyPr wrap="square">
            <a:spAutoFit/>
          </a:bodyPr>
          <a:lstStyle/>
          <a:p>
            <a:pPr>
              <a:defRPr sz="1600" b="1">
                <a:solidFill>
                  <a:srgbClr val="F8FAFC"/>
                </a:solidFill>
                <a:latin typeface="Arial"/>
              </a:defRPr>
            </a:pPr>
            <a:r>
              <a:t>Cross-Device Responsive UI</a:t>
            </a:r>
          </a:p>
          <a:p>
            <a:pPr>
              <a:spcAft>
                <a:spcPts val="800"/>
              </a:spcAft>
              <a:defRPr sz="1000" b="1">
                <a:solidFill>
                  <a:srgbClr val="38BDF8"/>
                </a:solidFill>
              </a:defRPr>
            </a:pPr>
            <a:r>
              <a:t>[UI/UX Verification]</a:t>
            </a:r>
          </a:p>
          <a:p>
            <a:pPr>
              <a:spcAft>
                <a:spcPts val="600"/>
              </a:spcAft>
              <a:defRPr sz="1200">
                <a:solidFill>
                  <a:srgbClr val="94A3B8"/>
                </a:solidFill>
                <a:latin typeface="Arial"/>
              </a:defRPr>
            </a:pPr>
            <a:r>
              <a:t>•  Desktop (&gt;1024px): Full permanent sidebar and multi-column card grids.</a:t>
            </a:r>
          </a:p>
          <a:p>
            <a:pPr>
              <a:spcAft>
                <a:spcPts val="600"/>
              </a:spcAft>
              <a:defRPr sz="1200">
                <a:solidFill>
                  <a:srgbClr val="94A3B8"/>
                </a:solidFill>
                <a:latin typeface="Arial"/>
              </a:defRPr>
            </a:pPr>
            <a:r>
              <a:t>•  Tablet (768px - 1024px): Adaptive 2-column layout and scrollable tables.</a:t>
            </a:r>
          </a:p>
          <a:p>
            <a:pPr>
              <a:spcAft>
                <a:spcPts val="600"/>
              </a:spcAft>
              <a:defRPr sz="1200">
                <a:solidFill>
                  <a:srgbClr val="94A3B8"/>
                </a:solidFill>
                <a:latin typeface="Arial"/>
              </a:defRPr>
            </a:pPr>
            <a:r>
              <a:t>•  Mobile (&lt;640px): Off-canvas navigation drawer with backdrop touch dismiss.</a:t>
            </a:r>
          </a:p>
          <a:p>
            <a:pPr>
              <a:spcAft>
                <a:spcPts val="600"/>
              </a:spcAft>
              <a:defRPr sz="1200">
                <a:solidFill>
                  <a:srgbClr val="94A3B8"/>
                </a:solidFill>
                <a:latin typeface="Arial"/>
              </a:defRPr>
            </a:pPr>
            <a:r>
              <a:t>•  Zero Placeholder Buttons: Every button has a working handler.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a:spAutoFit/>
          </a:bodyPr>
          <a:lstStyle/>
          <a:p>
            <a:pPr>
              <a:defRPr sz="1100" b="1">
                <a:solidFill>
                  <a:srgbClr val="38BDF8"/>
                </a:solidFill>
                <a:latin typeface="Arial"/>
              </a:defRPr>
            </a:pPr>
            <a:r>
              <a:t>SMART HELMET SAFETY SYSTEM — SOFTWARE VERSION</a:t>
            </a:r>
          </a:p>
        </p:txBody>
      </p:sp>
      <p:sp>
        <p:nvSpPr>
          <p:cNvPr id="4" name="TextBox 3"/>
          <p:cNvSpPr txBox="1"/>
          <p:nvPr/>
        </p:nvSpPr>
        <p:spPr>
          <a:xfrm>
            <a:off x="731520" y="777240"/>
            <a:ext cx="10515600" cy="731520"/>
          </a:xfrm>
          <a:prstGeom prst="rect">
            <a:avLst/>
          </a:prstGeom>
          <a:noFill/>
        </p:spPr>
        <p:txBody>
          <a:bodyPr wrap="square">
            <a:spAutoFit/>
          </a:bodyPr>
          <a:lstStyle/>
          <a:p>
            <a:pPr>
              <a:defRPr sz="2400" b="1">
                <a:solidFill>
                  <a:srgbClr val="F8FAFC"/>
                </a:solidFill>
                <a:latin typeface="Arial"/>
              </a:defRPr>
            </a:pPr>
            <a:r>
              <a:t>Hardware Migration Roadmap (Physical IoT Integration)</a:t>
            </a:r>
          </a:p>
        </p:txBody>
      </p:sp>
      <p:sp>
        <p:nvSpPr>
          <p:cNvPr id="5" name="Rectangle 4"/>
          <p:cNvSpPr/>
          <p:nvPr/>
        </p:nvSpPr>
        <p:spPr>
          <a:xfrm>
            <a:off x="731520" y="155448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4389120"/>
          </a:xfrm>
          <a:prstGeom prst="roundRect">
            <a:avLst/>
          </a:prstGeom>
          <a:solidFill>
            <a:srgbClr val="111A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57400"/>
            <a:ext cx="4663440" cy="3931920"/>
          </a:xfrm>
          <a:prstGeom prst="rect">
            <a:avLst/>
          </a:prstGeom>
          <a:noFill/>
        </p:spPr>
        <p:txBody>
          <a:bodyPr wrap="square">
            <a:spAutoFit/>
          </a:bodyPr>
          <a:lstStyle/>
          <a:p>
            <a:pPr>
              <a:defRPr sz="1600" b="1">
                <a:solidFill>
                  <a:srgbClr val="F8FAFC"/>
                </a:solidFill>
                <a:latin typeface="Arial"/>
              </a:defRPr>
            </a:pPr>
            <a:r>
              <a:t>Physical Hardware Component Mapping</a:t>
            </a:r>
          </a:p>
          <a:p>
            <a:pPr>
              <a:spcAft>
                <a:spcPts val="800"/>
              </a:spcAft>
              <a:defRPr sz="1000" b="1">
                <a:solidFill>
                  <a:srgbClr val="38BDF8"/>
                </a:solidFill>
              </a:defRPr>
            </a:pPr>
            <a:r>
              <a:t>[Hardware Equivalents]</a:t>
            </a:r>
          </a:p>
          <a:p>
            <a:pPr>
              <a:spcAft>
                <a:spcPts val="600"/>
              </a:spcAft>
              <a:defRPr sz="1200">
                <a:solidFill>
                  <a:srgbClr val="94A3B8"/>
                </a:solidFill>
                <a:latin typeface="Arial"/>
              </a:defRPr>
            </a:pPr>
            <a:r>
              <a:t>•  Microcontroller: ESP32 / NodeMCU (Wi-Fi + BLE enabled, 3.3V logic).</a:t>
            </a:r>
          </a:p>
          <a:p>
            <a:pPr>
              <a:spcAft>
                <a:spcPts val="600"/>
              </a:spcAft>
              <a:defRPr sz="1200">
                <a:solidFill>
                  <a:srgbClr val="94A3B8"/>
                </a:solidFill>
                <a:latin typeface="Arial"/>
              </a:defRPr>
            </a:pPr>
            <a:r>
              <a:t>•  Accelerometer/Gyroscope: MPU-6050 (I2C communication, ±16G scale).</a:t>
            </a:r>
          </a:p>
          <a:p>
            <a:pPr>
              <a:spcAft>
                <a:spcPts val="600"/>
              </a:spcAft>
              <a:defRPr sz="1200">
                <a:solidFill>
                  <a:srgbClr val="94A3B8"/>
                </a:solidFill>
                <a:latin typeface="Arial"/>
              </a:defRPr>
            </a:pPr>
            <a:r>
              <a:t>•  Helmet Wear Sensor: TCRT5000 Infrared Reflective Proximity Sensor.</a:t>
            </a:r>
          </a:p>
          <a:p>
            <a:pPr>
              <a:spcAft>
                <a:spcPts val="600"/>
              </a:spcAft>
              <a:defRPr sz="1200">
                <a:solidFill>
                  <a:srgbClr val="94A3B8"/>
                </a:solidFill>
                <a:latin typeface="Arial"/>
              </a:defRPr>
            </a:pPr>
            <a:r>
              <a:t>•  GPS Satellite Receiver: u-blox NEO-6M (NMEA UART sentences at 9600 baud).</a:t>
            </a:r>
          </a:p>
          <a:p>
            <a:pPr>
              <a:spcAft>
                <a:spcPts val="600"/>
              </a:spcAft>
              <a:defRPr sz="1200">
                <a:solidFill>
                  <a:srgbClr val="94A3B8"/>
                </a:solidFill>
                <a:latin typeface="Arial"/>
              </a:defRPr>
            </a:pPr>
            <a:r>
              <a:t>•  Cellular Transceiver: SIM800L GPRS/GSM module for cellular SMS backup.</a:t>
            </a:r>
          </a:p>
          <a:p>
            <a:pPr>
              <a:spcAft>
                <a:spcPts val="600"/>
              </a:spcAft>
              <a:defRPr sz="1200">
                <a:solidFill>
                  <a:srgbClr val="94A3B8"/>
                </a:solidFill>
                <a:latin typeface="Arial"/>
              </a:defRPr>
            </a:pPr>
            <a:r>
              <a:t>•  Audio Beacon: Active 5V Piezo Buzzer for audible distress siren on impact.</a:t>
            </a:r>
          </a:p>
        </p:txBody>
      </p:sp>
      <p:sp>
        <p:nvSpPr>
          <p:cNvPr id="8" name="Rounded Rectangle 7"/>
          <p:cNvSpPr/>
          <p:nvPr/>
        </p:nvSpPr>
        <p:spPr>
          <a:xfrm>
            <a:off x="6217920" y="1828800"/>
            <a:ext cx="5212080" cy="4389120"/>
          </a:xfrm>
          <a:prstGeom prst="roundRect">
            <a:avLst/>
          </a:prstGeom>
          <a:solidFill>
            <a:srgbClr val="111A2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2057400"/>
            <a:ext cx="4754880" cy="3931920"/>
          </a:xfrm>
          <a:prstGeom prst="rect">
            <a:avLst/>
          </a:prstGeom>
          <a:noFill/>
        </p:spPr>
        <p:txBody>
          <a:bodyPr wrap="square">
            <a:spAutoFit/>
          </a:bodyPr>
          <a:lstStyle/>
          <a:p>
            <a:pPr>
              <a:defRPr sz="1600" b="1">
                <a:solidFill>
                  <a:srgbClr val="F8FAFC"/>
                </a:solidFill>
                <a:latin typeface="Arial"/>
              </a:defRPr>
            </a:pPr>
            <a:r>
              <a:t>Bridge Architecture (Hardware to Web App)</a:t>
            </a:r>
          </a:p>
          <a:p>
            <a:pPr>
              <a:spcAft>
                <a:spcPts val="800"/>
              </a:spcAft>
              <a:defRPr sz="1000" b="1">
                <a:solidFill>
                  <a:srgbClr val="38BDF8"/>
                </a:solidFill>
              </a:defRPr>
            </a:pPr>
            <a:r>
              <a:t>[Integration Protocol]</a:t>
            </a:r>
          </a:p>
          <a:p>
            <a:pPr>
              <a:spcAft>
                <a:spcPts val="600"/>
              </a:spcAft>
              <a:defRPr sz="1200">
                <a:solidFill>
                  <a:srgbClr val="94A3B8"/>
                </a:solidFill>
                <a:latin typeface="Arial"/>
              </a:defRPr>
            </a:pPr>
            <a:r>
              <a:t>•  Web Bluetooth API (WebBLE): Connect helmet directly to web dashboard via Bluetooth Low Energy.</a:t>
            </a:r>
          </a:p>
          <a:p>
            <a:pPr>
              <a:spcAft>
                <a:spcPts val="600"/>
              </a:spcAft>
              <a:defRPr sz="1200">
                <a:solidFill>
                  <a:srgbClr val="94A3B8"/>
                </a:solidFill>
                <a:latin typeface="Arial"/>
              </a:defRPr>
            </a:pPr>
            <a:r>
              <a:t>•  MQTT / WebSocket Gateway: ESP32 publishes JSON telemetry stream: '{ gForce, lat, lng, isWorn }'.</a:t>
            </a:r>
          </a:p>
          <a:p>
            <a:pPr>
              <a:spcAft>
                <a:spcPts val="600"/>
              </a:spcAft>
              <a:defRPr sz="1200">
                <a:solidFill>
                  <a:srgbClr val="94A3B8"/>
                </a:solidFill>
                <a:latin typeface="Arial"/>
              </a:defRPr>
            </a:pPr>
            <a:r>
              <a:t>•  Cloud Serverless Receiver: Firebase Cloud Functions receives packet and writes directly to Firestore.</a:t>
            </a:r>
          </a:p>
          <a:p>
            <a:pPr>
              <a:spcAft>
                <a:spcPts val="600"/>
              </a:spcAft>
              <a:defRPr sz="1200">
                <a:solidFill>
                  <a:srgbClr val="94A3B8"/>
                </a:solidFill>
                <a:latin typeface="Arial"/>
              </a:defRPr>
            </a:pPr>
            <a:r>
              <a:t>•  Zero UI Rewrite: The existing dashboard.js and monitoring.js consume the same JSON schema seamlessly.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a:spAutoFit/>
          </a:bodyPr>
          <a:lstStyle/>
          <a:p>
            <a:pPr>
              <a:defRPr sz="1100" b="1">
                <a:solidFill>
                  <a:srgbClr val="38BDF8"/>
                </a:solidFill>
                <a:latin typeface="Arial"/>
              </a:defRPr>
            </a:pPr>
            <a:r>
              <a:t>SMART HELMET SAFETY SYSTEM — SOFTWARE VERSION</a:t>
            </a:r>
          </a:p>
        </p:txBody>
      </p:sp>
      <p:sp>
        <p:nvSpPr>
          <p:cNvPr id="4" name="TextBox 3"/>
          <p:cNvSpPr txBox="1"/>
          <p:nvPr/>
        </p:nvSpPr>
        <p:spPr>
          <a:xfrm>
            <a:off x="731520" y="777240"/>
            <a:ext cx="10515600" cy="731520"/>
          </a:xfrm>
          <a:prstGeom prst="rect">
            <a:avLst/>
          </a:prstGeom>
          <a:noFill/>
        </p:spPr>
        <p:txBody>
          <a:bodyPr wrap="square">
            <a:spAutoFit/>
          </a:bodyPr>
          <a:lstStyle/>
          <a:p>
            <a:pPr>
              <a:defRPr sz="2400" b="1">
                <a:solidFill>
                  <a:srgbClr val="F8FAFC"/>
                </a:solidFill>
                <a:latin typeface="Arial"/>
              </a:defRPr>
            </a:pPr>
            <a:r>
              <a:t>Competitive Advantages &amp; Novelty</a:t>
            </a:r>
          </a:p>
        </p:txBody>
      </p:sp>
      <p:sp>
        <p:nvSpPr>
          <p:cNvPr id="5" name="Rectangle 4"/>
          <p:cNvSpPr/>
          <p:nvPr/>
        </p:nvSpPr>
        <p:spPr>
          <a:xfrm>
            <a:off x="731520" y="155448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3291840" cy="4389120"/>
          </a:xfrm>
          <a:prstGeom prst="roundRect">
            <a:avLst/>
          </a:prstGeom>
          <a:solidFill>
            <a:srgbClr val="111A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57400"/>
            <a:ext cx="2834640" cy="3931920"/>
          </a:xfrm>
          <a:prstGeom prst="rect">
            <a:avLst/>
          </a:prstGeom>
          <a:noFill/>
        </p:spPr>
        <p:txBody>
          <a:bodyPr wrap="square">
            <a:spAutoFit/>
          </a:bodyPr>
          <a:lstStyle/>
          <a:p>
            <a:pPr>
              <a:defRPr sz="1600" b="1">
                <a:solidFill>
                  <a:srgbClr val="F8FAFC"/>
                </a:solidFill>
                <a:latin typeface="Arial"/>
              </a:defRPr>
            </a:pPr>
            <a:r>
              <a:t>Traditional Physical Prototyping</a:t>
            </a:r>
          </a:p>
          <a:p>
            <a:pPr>
              <a:spcAft>
                <a:spcPts val="800"/>
              </a:spcAft>
              <a:defRPr sz="1000" b="1">
                <a:solidFill>
                  <a:srgbClr val="38BDF8"/>
                </a:solidFill>
              </a:defRPr>
            </a:pPr>
            <a:r>
              <a:t>[Physical Prototyping]</a:t>
            </a:r>
          </a:p>
          <a:p>
            <a:pPr>
              <a:spcAft>
                <a:spcPts val="600"/>
              </a:spcAft>
              <a:defRPr sz="1200">
                <a:solidFill>
                  <a:srgbClr val="94A3B8"/>
                </a:solidFill>
                <a:latin typeface="Arial"/>
              </a:defRPr>
            </a:pPr>
            <a:r>
              <a:t>•  High component failure rate during student demonstrations.</a:t>
            </a:r>
          </a:p>
          <a:p>
            <a:pPr>
              <a:spcAft>
                <a:spcPts val="600"/>
              </a:spcAft>
              <a:defRPr sz="1200">
                <a:solidFill>
                  <a:srgbClr val="94A3B8"/>
                </a:solidFill>
                <a:latin typeface="Arial"/>
              </a:defRPr>
            </a:pPr>
            <a:r>
              <a:t>•  Requires physical helmet casing and soldering equipment.</a:t>
            </a:r>
          </a:p>
          <a:p>
            <a:pPr>
              <a:spcAft>
                <a:spcPts val="600"/>
              </a:spcAft>
              <a:defRPr sz="1200">
                <a:solidFill>
                  <a:srgbClr val="94A3B8"/>
                </a:solidFill>
                <a:latin typeface="Arial"/>
              </a:defRPr>
            </a:pPr>
            <a:r>
              <a:t>•  Difficult to simulate real 6G crash impacts safely in a lab.</a:t>
            </a:r>
          </a:p>
          <a:p>
            <a:pPr>
              <a:spcAft>
                <a:spcPts val="600"/>
              </a:spcAft>
              <a:defRPr sz="1200">
                <a:solidFill>
                  <a:srgbClr val="94A3B8"/>
                </a:solidFill>
                <a:latin typeface="Arial"/>
              </a:defRPr>
            </a:pPr>
            <a:r>
              <a:t>•  Limited triage interface (often only sends 1 raw SMS).</a:t>
            </a:r>
          </a:p>
        </p:txBody>
      </p:sp>
      <p:sp>
        <p:nvSpPr>
          <p:cNvPr id="8" name="Rounded Rectangle 7"/>
          <p:cNvSpPr/>
          <p:nvPr/>
        </p:nvSpPr>
        <p:spPr>
          <a:xfrm>
            <a:off x="4389120" y="1828800"/>
            <a:ext cx="3383280" cy="4389120"/>
          </a:xfrm>
          <a:prstGeom prst="roundRect">
            <a:avLst/>
          </a:prstGeom>
          <a:solidFill>
            <a:srgbClr val="111A2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2057400"/>
            <a:ext cx="2926080" cy="3931920"/>
          </a:xfrm>
          <a:prstGeom prst="rect">
            <a:avLst/>
          </a:prstGeom>
          <a:noFill/>
        </p:spPr>
        <p:txBody>
          <a:bodyPr wrap="square">
            <a:spAutoFit/>
          </a:bodyPr>
          <a:lstStyle/>
          <a:p>
            <a:pPr>
              <a:defRPr sz="1600" b="1">
                <a:solidFill>
                  <a:srgbClr val="F8FAFC"/>
                </a:solidFill>
                <a:latin typeface="Arial"/>
              </a:defRPr>
            </a:pPr>
            <a:r>
              <a:t>Our Software Version</a:t>
            </a:r>
          </a:p>
          <a:p>
            <a:pPr>
              <a:spcAft>
                <a:spcPts val="800"/>
              </a:spcAft>
              <a:defRPr sz="1000" b="1">
                <a:solidFill>
                  <a:srgbClr val="38BDF8"/>
                </a:solidFill>
              </a:defRPr>
            </a:pPr>
            <a:r>
              <a:t>[Software Innovation]</a:t>
            </a:r>
          </a:p>
          <a:p>
            <a:pPr>
              <a:spcAft>
                <a:spcPts val="600"/>
              </a:spcAft>
              <a:defRPr sz="1200">
                <a:solidFill>
                  <a:srgbClr val="94A3B8"/>
                </a:solidFill>
                <a:latin typeface="Arial"/>
              </a:defRPr>
            </a:pPr>
            <a:r>
              <a:t>•  100% Deterministic &amp; Safe: Simulate crashes on demand without risk.</a:t>
            </a:r>
          </a:p>
          <a:p>
            <a:pPr>
              <a:spcAft>
                <a:spcPts val="600"/>
              </a:spcAft>
              <a:defRPr sz="1200">
                <a:solidFill>
                  <a:srgbClr val="94A3B8"/>
                </a:solidFill>
                <a:latin typeface="Arial"/>
              </a:defRPr>
            </a:pPr>
            <a:r>
              <a:t>•  Interactive Spatial Triage: Full map plotting with Google Maps linkage.</a:t>
            </a:r>
          </a:p>
          <a:p>
            <a:pPr>
              <a:spcAft>
                <a:spcPts val="600"/>
              </a:spcAft>
              <a:defRPr sz="1200">
                <a:solidFill>
                  <a:srgbClr val="94A3B8"/>
                </a:solidFill>
                <a:latin typeface="Arial"/>
              </a:defRPr>
            </a:pPr>
            <a:r>
              <a:t>•  Comprehensive Medical Profiling: Integrates blood group and allergies.</a:t>
            </a:r>
          </a:p>
          <a:p>
            <a:pPr>
              <a:spcAft>
                <a:spcPts val="600"/>
              </a:spcAft>
              <a:defRPr sz="1200">
                <a:solidFill>
                  <a:srgbClr val="94A3B8"/>
                </a:solidFill>
                <a:latin typeface="Arial"/>
              </a:defRPr>
            </a:pPr>
            <a:r>
              <a:t>•  Zero Setup Overhead: Runs instantly on any laptop or tablet.</a:t>
            </a:r>
          </a:p>
        </p:txBody>
      </p:sp>
      <p:sp>
        <p:nvSpPr>
          <p:cNvPr id="10" name="Rounded Rectangle 9"/>
          <p:cNvSpPr/>
          <p:nvPr/>
        </p:nvSpPr>
        <p:spPr>
          <a:xfrm>
            <a:off x="8138160" y="1828800"/>
            <a:ext cx="3291840" cy="4389120"/>
          </a:xfrm>
          <a:prstGeom prst="roundRect">
            <a:avLst/>
          </a:prstGeom>
          <a:solidFill>
            <a:srgbClr val="111A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2057400"/>
            <a:ext cx="2834640" cy="3931920"/>
          </a:xfrm>
          <a:prstGeom prst="rect">
            <a:avLst/>
          </a:prstGeom>
          <a:noFill/>
        </p:spPr>
        <p:txBody>
          <a:bodyPr wrap="square">
            <a:spAutoFit/>
          </a:bodyPr>
          <a:lstStyle/>
          <a:p>
            <a:pPr>
              <a:defRPr sz="1600" b="1">
                <a:solidFill>
                  <a:srgbClr val="F8FAFC"/>
                </a:solidFill>
                <a:latin typeface="Arial"/>
              </a:defRPr>
            </a:pPr>
            <a:r>
              <a:t>Academic &amp; Research Value</a:t>
            </a:r>
          </a:p>
          <a:p>
            <a:pPr>
              <a:spcAft>
                <a:spcPts val="800"/>
              </a:spcAft>
              <a:defRPr sz="1000" b="1">
                <a:solidFill>
                  <a:srgbClr val="38BDF8"/>
                </a:solidFill>
              </a:defRPr>
            </a:pPr>
            <a:r>
              <a:t>[Research Impact]</a:t>
            </a:r>
          </a:p>
          <a:p>
            <a:pPr>
              <a:spcAft>
                <a:spcPts val="600"/>
              </a:spcAft>
              <a:defRPr sz="1200">
                <a:solidFill>
                  <a:srgbClr val="94A3B8"/>
                </a:solidFill>
                <a:latin typeface="Arial"/>
              </a:defRPr>
            </a:pPr>
            <a:r>
              <a:t>•  Benchmarking Tool: Test algorithmic threshold sensitivities (2G vs. 4G).</a:t>
            </a:r>
          </a:p>
          <a:p>
            <a:pPr>
              <a:spcAft>
                <a:spcPts val="600"/>
              </a:spcAft>
              <a:defRPr sz="1200">
                <a:solidFill>
                  <a:srgbClr val="94A3B8"/>
                </a:solidFill>
                <a:latin typeface="Arial"/>
              </a:defRPr>
            </a:pPr>
            <a:r>
              <a:t>•  Paramedic Workflow Validation: Refine status lifecycle before field trials.</a:t>
            </a:r>
          </a:p>
          <a:p>
            <a:pPr>
              <a:spcAft>
                <a:spcPts val="600"/>
              </a:spcAft>
              <a:defRPr sz="1200">
                <a:solidFill>
                  <a:srgbClr val="94A3B8"/>
                </a:solidFill>
                <a:latin typeface="Arial"/>
              </a:defRPr>
            </a:pPr>
            <a:r>
              <a:t>•  Classroom Friendly: Accessible to beginner software and IoT students.</a:t>
            </a:r>
          </a:p>
          <a:p>
            <a:pPr>
              <a:spcAft>
                <a:spcPts val="600"/>
              </a:spcAft>
              <a:defRPr sz="1200">
                <a:solidFill>
                  <a:srgbClr val="94A3B8"/>
                </a:solidFill>
                <a:latin typeface="Arial"/>
              </a:defRPr>
            </a:pPr>
            <a:r>
              <a:t>•  Open Architecture: Clean, modular, standards-compliant codebase.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097280"/>
            <a:ext cx="9448495" cy="4663440"/>
          </a:xfrm>
          <a:prstGeom prst="roundRect">
            <a:avLst/>
          </a:prstGeom>
          <a:solidFill>
            <a:srgbClr val="111A2E"/>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1463040"/>
            <a:ext cx="8534095" cy="3931920"/>
          </a:xfrm>
          <a:prstGeom prst="rect">
            <a:avLst/>
          </a:prstGeom>
          <a:noFill/>
        </p:spPr>
        <p:txBody>
          <a:bodyPr wrap="square">
            <a:spAutoFit/>
          </a:bodyPr>
          <a:lstStyle/>
          <a:p>
            <a:pPr algn="ctr">
              <a:defRPr sz="3200" b="1">
                <a:solidFill>
                  <a:srgbClr val="F8FAFC"/>
                </a:solidFill>
                <a:latin typeface="Arial"/>
              </a:defRPr>
            </a:pPr>
            <a:r>
              <a:t>CONCLUSION &amp; QUESTIONS</a:t>
            </a:r>
          </a:p>
          <a:p>
            <a:pPr algn="ctr">
              <a:spcAft>
                <a:spcPts val="2000"/>
              </a:spcAft>
              <a:defRPr sz="1800" b="1">
                <a:solidFill>
                  <a:srgbClr val="38BDF8"/>
                </a:solidFill>
              </a:defRPr>
            </a:pPr>
            <a:r>
              <a:t>Key Project Takeaways</a:t>
            </a:r>
          </a:p>
          <a:p>
            <a:pPr>
              <a:spcAft>
                <a:spcPts val="2400"/>
              </a:spcAft>
              <a:defRPr sz="1300">
                <a:solidFill>
                  <a:srgbClr val="94A3B8"/>
                </a:solidFill>
              </a:defRPr>
            </a:pPr>
            <a:r>
              <a:t>• Successfully engineered a complete, working software version of a Smart Helmet Emergency Alert System.</a:t>
            </a:r>
            <a:br/>
            <a:r>
              <a:t>• Validated tri-axial impact shockwave modeling and medical G-force collision thresholds (&gt; 4.0G).</a:t>
            </a:r>
            <a:br/>
            <a:r>
              <a:t>• Built real-time Leaflet OpenStreetMap triage with turn-by-turn Google Maps paramedic routing.</a:t>
            </a:r>
            <a:br/>
            <a:r>
              <a:t>• Established full data lifecycle with LocalStorage persistence and pluggable Firebase Cloud Firestore.</a:t>
            </a:r>
            <a:br/>
            <a:r>
              <a:t>• Ready for academic presentation, software grading, and future embedded IoT physical hardware migration.</a:t>
            </a:r>
          </a:p>
          <a:p>
            <a:pPr algn="ctr">
              <a:defRPr sz="2000" b="1">
                <a:solidFill>
                  <a:srgbClr val="F59E0B"/>
                </a:solidFill>
              </a:defRPr>
            </a:pPr>
            <a:r>
              <a:t>Thank You! 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